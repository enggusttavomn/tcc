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96528" y="-749808"/>
            <a:ext cx="4206240" cy="4206240"/>
          </a:xfrm>
          <a:prstGeom prst="ellipse">
            <a:avLst/>
          </a:prstGeom>
          <a:noFill/>
          <a:ln w="1270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28016"/>
            <a:ext cx="2962656" cy="2962656"/>
          </a:xfrm>
          <a:prstGeom prst="ellipse">
            <a:avLst/>
          </a:prstGeom>
          <a:noFill/>
          <a:ln w="1270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16768" y="310896"/>
            <a:ext cx="228600" cy="22860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28048" y="1060704"/>
            <a:ext cx="164592" cy="164592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83696" y="2148840"/>
            <a:ext cx="146304" cy="146304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0" y="1847088"/>
            <a:ext cx="128016" cy="128016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0">
                <a:solidFill>
                  <a:srgbClr val="2BD9C5"/>
                </a:solidFill>
                <a:latin typeface="Lato"/>
              </a:rPr>
              <a:t>SHARE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43584"/>
            <a:ext cx="7406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5F8FC"/>
                </a:solidFill>
                <a:latin typeface="Lato"/>
              </a:rPr>
              <a:t>Modelos de
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127248"/>
            <a:ext cx="67665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BCC"/>
                </a:solidFill>
                <a:latin typeface="Lato"/>
              </a:rPr>
              <a:t>Sete formas de aprender padrões — e o que muda na hora de prever.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959352"/>
            <a:ext cx="10899648" cy="1335024"/>
          </a:xfrm>
          <a:prstGeom prst="roundRect">
            <a:avLst/>
          </a:prstGeom>
          <a:solidFill>
            <a:srgbClr val="0A1B2B"/>
          </a:solidFill>
          <a:ln w="1270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08176" y="4251960"/>
            <a:ext cx="182880" cy="182880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XGBoost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4343400"/>
            <a:ext cx="457200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07792" y="4251960"/>
            <a:ext cx="182880" cy="18288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MLP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11296" y="4343400"/>
            <a:ext cx="457200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407408" y="4251960"/>
            <a:ext cx="182880" cy="18288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10912" y="4343400"/>
            <a:ext cx="457200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907024" y="4251960"/>
            <a:ext cx="182880" cy="182880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LSTM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0528" y="4343400"/>
            <a:ext cx="457200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06640" y="4251960"/>
            <a:ext cx="182880" cy="182880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5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DilatedRNN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10144" y="4343400"/>
            <a:ext cx="457200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906256" y="4251960"/>
            <a:ext cx="182880" cy="182880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DeepAR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09760" y="4343400"/>
            <a:ext cx="457200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405872" y="425196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3808" y="4617720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DeepNPTS*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63270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BBCC"/>
                </a:solidFill>
                <a:latin typeface="Lato"/>
              </a:rPr>
              <a:t>* aproximação experimental inspirada no DeepNPTS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961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D9C5"/>
                </a:solidFill>
                <a:latin typeface="Lato"/>
              </a:rPr>
              <a:t>De padrões tabulares a previsões probabilísticas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A mesma pergunta, sete vieses de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5669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O modelo muda o que é fácil perceber nos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11045952" cy="98755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73152" cy="987552"/>
          </a:xfrm>
          <a:prstGeom prst="round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8B5C"/>
                </a:solidFill>
                <a:latin typeface="La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884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Lato"/>
              </a:rPr>
              <a:t>Como os dados entram?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176272"/>
            <a:ext cx="2606040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85416"/>
            <a:ext cx="2606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C"/>
                </a:solidFill>
                <a:latin typeface="Lato"/>
              </a:rPr>
              <a:t>Tabela de atributos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468880"/>
            <a:ext cx="411480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781544" y="2409444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73568" y="2176272"/>
            <a:ext cx="3246120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2185416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C"/>
                </a:solidFill>
                <a:latin typeface="Lato"/>
              </a:rPr>
              <a:t>Sequência ordenada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91840"/>
            <a:ext cx="11045952" cy="98755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291840"/>
            <a:ext cx="73152" cy="987552"/>
          </a:xfrm>
          <a:prstGeom prst="roundRect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74720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D9C5"/>
                </a:solidFill>
                <a:latin typeface="La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4728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Lato"/>
              </a:rPr>
              <a:t>Como o passado é lembrado?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474720"/>
            <a:ext cx="2606040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483864"/>
            <a:ext cx="2606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C"/>
                </a:solidFill>
                <a:latin typeface="Lato"/>
              </a:rPr>
              <a:t>Sem estado interno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3767328"/>
            <a:ext cx="411480" cy="0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781544" y="3707891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73568" y="3474720"/>
            <a:ext cx="3246120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3483864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C"/>
                </a:solidFill>
                <a:latin typeface="Lato"/>
              </a:rPr>
              <a:t>Memória curta, longa ou multiescala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590288"/>
            <a:ext cx="11045952" cy="98755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590288"/>
            <a:ext cx="73152" cy="987552"/>
          </a:xfrm>
          <a:prstGeom prst="roundRect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77316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C8BFF"/>
                </a:solidFill>
                <a:latin typeface="Lato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4573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Lato"/>
              </a:rPr>
              <a:t>O que sai do modelo?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4773168"/>
            <a:ext cx="2606040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782312"/>
            <a:ext cx="2606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C"/>
                </a:solidFill>
                <a:latin typeface="Lato"/>
              </a:rPr>
              <a:t>Um valor pontual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06640" y="5065775"/>
            <a:ext cx="411480" cy="0"/>
          </a:xfrm>
          <a:prstGeom prst="line">
            <a:avLst/>
          </a:prstGeom>
          <a:ln w="2540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7781544" y="5006340"/>
            <a:ext cx="118872" cy="118872"/>
          </a:xfrm>
          <a:prstGeom prst="triangl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73568" y="4773168"/>
            <a:ext cx="3246120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4782312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C"/>
                </a:solidFill>
                <a:latin typeface="Lato"/>
              </a:rPr>
              <a:t>Uma distribuição de futuros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989320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D9C5"/>
                </a:solidFill>
                <a:latin typeface="Lato"/>
              </a:rPr>
              <a:t>A escolha do modelo é uma hipótese sobre a estrutura do problema.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MAPA MENTAL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MODELOS TABULARES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Dois caminhos quando a entrada já virou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508760"/>
            <a:ext cx="5349240" cy="4498848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325880" cy="310896"/>
          </a:xfrm>
          <a:prstGeom prst="roundRect">
            <a:avLst/>
          </a:prstGeom>
          <a:solidFill>
            <a:srgbClr val="15334A"/>
          </a:solidFill>
          <a:ln w="12700">
            <a:solidFill>
              <a:srgbClr val="F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13258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8B5C"/>
                </a:solidFill>
                <a:latin typeface="Lato"/>
              </a:rPr>
              <a:t>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Lato"/>
              </a:rPr>
              <a:t>Muitas árvores pequenas
corrigem os erros anteriores.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243584" y="3364992"/>
            <a:ext cx="219455" cy="384048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39" y="3364992"/>
            <a:ext cx="219456" cy="384048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33856" y="3749040"/>
            <a:ext cx="109728" cy="320040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43584" y="3749040"/>
            <a:ext cx="118872" cy="320040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353312" y="3246120"/>
            <a:ext cx="219456" cy="219456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" y="3648456"/>
            <a:ext cx="201168" cy="201168"/>
          </a:xfrm>
          <a:prstGeom prst="ellipse">
            <a:avLst/>
          </a:prstGeom>
          <a:solidFill>
            <a:srgbClr val="15334A"/>
          </a:solidFill>
          <a:ln w="12700">
            <a:solidFill>
              <a:srgbClr val="F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81912" y="3648456"/>
            <a:ext cx="201168" cy="201168"/>
          </a:xfrm>
          <a:prstGeom prst="ellipse">
            <a:avLst/>
          </a:prstGeom>
          <a:solidFill>
            <a:srgbClr val="15334A"/>
          </a:solidFill>
          <a:ln w="12700">
            <a:solidFill>
              <a:srgbClr val="F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014216"/>
            <a:ext cx="146304" cy="146304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07592" y="4014216"/>
            <a:ext cx="146304" cy="146304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2295144" y="3364992"/>
            <a:ext cx="219455" cy="384048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14599" y="3364992"/>
            <a:ext cx="219457" cy="384048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185415" y="3749040"/>
            <a:ext cx="109729" cy="320040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95144" y="3749040"/>
            <a:ext cx="118871" cy="320040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04871" y="3246120"/>
            <a:ext cx="219456" cy="219456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59" y="3648456"/>
            <a:ext cx="201168" cy="201168"/>
          </a:xfrm>
          <a:prstGeom prst="ellipse">
            <a:avLst/>
          </a:prstGeom>
          <a:solidFill>
            <a:srgbClr val="15334A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33471" y="3648456"/>
            <a:ext cx="201168" cy="201168"/>
          </a:xfrm>
          <a:prstGeom prst="ellipse">
            <a:avLst/>
          </a:prstGeom>
          <a:solidFill>
            <a:srgbClr val="15334A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2263" y="4014216"/>
            <a:ext cx="146304" cy="14630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59151" y="4014216"/>
            <a:ext cx="146304" cy="14630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3346704" y="3364992"/>
            <a:ext cx="219456" cy="384048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66160" y="3364992"/>
            <a:ext cx="219455" cy="384048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236976" y="3749040"/>
            <a:ext cx="109728" cy="320040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46704" y="3749040"/>
            <a:ext cx="118872" cy="320040"/>
          </a:xfrm>
          <a:prstGeom prst="line">
            <a:avLst/>
          </a:prstGeom>
          <a:ln w="1651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456432" y="3246120"/>
            <a:ext cx="219456" cy="219456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46120" y="3648456"/>
            <a:ext cx="201168" cy="201168"/>
          </a:xfrm>
          <a:prstGeom prst="ellipse">
            <a:avLst/>
          </a:prstGeom>
          <a:solidFill>
            <a:srgbClr val="15334A"/>
          </a:solidFill>
          <a:ln w="12700">
            <a:solidFill>
              <a:srgbClr val="F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85032" y="3648456"/>
            <a:ext cx="201168" cy="201168"/>
          </a:xfrm>
          <a:prstGeom prst="ellipse">
            <a:avLst/>
          </a:prstGeom>
          <a:solidFill>
            <a:srgbClr val="15334A"/>
          </a:solidFill>
          <a:ln w="12700">
            <a:solidFill>
              <a:srgbClr val="F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63824" y="4014216"/>
            <a:ext cx="146304" cy="146304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10712" y="4014216"/>
            <a:ext cx="146304" cy="146304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61104" y="336499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8B5C"/>
                </a:solidFill>
                <a:latin typeface="Lato"/>
              </a:rPr>
              <a:t>Σ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12463" y="3602736"/>
            <a:ext cx="493777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617720" y="3602736"/>
            <a:ext cx="393192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992624" y="3456432"/>
            <a:ext cx="274320" cy="274320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7824" y="4718304"/>
            <a:ext cx="73152" cy="73152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5" y="4617720"/>
            <a:ext cx="4315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Lato"/>
              </a:rPr>
              <a:t>Forte em dados tabulares e interações.</a:t>
            </a:r>
          </a:p>
        </p:txBody>
      </p:sp>
      <p:sp>
        <p:nvSpPr>
          <p:cNvPr id="43" name="Oval 42"/>
          <p:cNvSpPr/>
          <p:nvPr/>
        </p:nvSpPr>
        <p:spPr>
          <a:xfrm>
            <a:off x="877824" y="5111496"/>
            <a:ext cx="73152" cy="73152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5" y="5010912"/>
            <a:ext cx="4315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Lato"/>
              </a:rPr>
              <a:t>Pouca preparação; boa referência inicial.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" y="553212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8BBCC"/>
                </a:solidFill>
                <a:latin typeface="Lato"/>
              </a:rPr>
              <a:t>ATENÇÃO  •  a sequência precisa virar lags, médias e calendário.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5352" y="1508760"/>
            <a:ext cx="5367528" cy="4498848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47104" y="1783080"/>
            <a:ext cx="1325880" cy="310896"/>
          </a:xfrm>
          <a:prstGeom prst="roundRect">
            <a:avLst/>
          </a:prstGeom>
          <a:solidFill>
            <a:srgbClr val="15334A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4" y="1792224"/>
            <a:ext cx="13258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DA3FF"/>
                </a:solidFill>
                <a:latin typeface="Lato"/>
              </a:rPr>
              <a:t>MLP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7104" y="2267712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Lato"/>
              </a:rPr>
              <a:t>Camadas densas transformam
atributos em relações não lineares.</a:t>
            </a:r>
          </a:p>
        </p:txBody>
      </p:sp>
      <p:sp>
        <p:nvSpPr>
          <p:cNvPr id="50" name="Oval 49"/>
          <p:cNvSpPr/>
          <p:nvPr/>
        </p:nvSpPr>
        <p:spPr>
          <a:xfrm>
            <a:off x="6903720" y="3200400"/>
            <a:ext cx="182880" cy="18288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03720" y="3572256"/>
            <a:ext cx="182880" cy="18288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03720" y="3944112"/>
            <a:ext cx="182880" cy="18288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03720" y="4315968"/>
            <a:ext cx="182880" cy="18288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818120" y="3200400"/>
            <a:ext cx="182880" cy="18288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18120" y="3479292"/>
            <a:ext cx="182880" cy="18288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18120" y="3758184"/>
            <a:ext cx="182880" cy="18288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18120" y="4037076"/>
            <a:ext cx="182880" cy="18288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18120" y="4315968"/>
            <a:ext cx="182880" cy="182880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732520" y="3200400"/>
            <a:ext cx="182880" cy="182880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32520" y="4315968"/>
            <a:ext cx="182880" cy="182880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086600" y="3291840"/>
            <a:ext cx="731520" cy="0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86600" y="3291840"/>
            <a:ext cx="731520" cy="278892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086600" y="3291840"/>
            <a:ext cx="731520" cy="557784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086600" y="3291840"/>
            <a:ext cx="731520" cy="836675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086600" y="3291840"/>
            <a:ext cx="731520" cy="1115567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086600" y="3291840"/>
            <a:ext cx="731520" cy="371856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086600" y="3570732"/>
            <a:ext cx="731520" cy="92964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086600" y="3663696"/>
            <a:ext cx="731520" cy="185928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086600" y="3663696"/>
            <a:ext cx="731520" cy="464819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086600" y="3663696"/>
            <a:ext cx="731520" cy="743711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086600" y="3291840"/>
            <a:ext cx="731520" cy="743712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086600" y="3570732"/>
            <a:ext cx="731520" cy="464820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86600" y="3849624"/>
            <a:ext cx="731520" cy="185928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086600" y="4035552"/>
            <a:ext cx="731520" cy="92963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4035552"/>
            <a:ext cx="731520" cy="371855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086600" y="3291840"/>
            <a:ext cx="731520" cy="1115567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86600" y="3570732"/>
            <a:ext cx="731520" cy="836675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086600" y="3849624"/>
            <a:ext cx="731520" cy="557783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086600" y="4128515"/>
            <a:ext cx="731520" cy="278892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086600" y="4407407"/>
            <a:ext cx="731520" cy="0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01000" y="3291840"/>
            <a:ext cx="731520" cy="0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001000" y="3291840"/>
            <a:ext cx="731520" cy="1115567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001000" y="3291840"/>
            <a:ext cx="731520" cy="278892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01000" y="3570732"/>
            <a:ext cx="731520" cy="836675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001000" y="3291840"/>
            <a:ext cx="731520" cy="557784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01000" y="3849624"/>
            <a:ext cx="731520" cy="557783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001000" y="3291840"/>
            <a:ext cx="731520" cy="836675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001000" y="4128515"/>
            <a:ext cx="731520" cy="278892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01000" y="3291840"/>
            <a:ext cx="731520" cy="1115567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001000" y="4407407"/>
            <a:ext cx="731520" cy="0"/>
          </a:xfrm>
          <a:prstGeom prst="line">
            <a:avLst/>
          </a:prstGeom>
          <a:ln w="635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979408" y="3849624"/>
            <a:ext cx="1591056" cy="0"/>
          </a:xfrm>
          <a:prstGeom prst="line">
            <a:avLst/>
          </a:prstGeom>
          <a:ln w="25400">
            <a:solidFill>
              <a:srgbClr val="C5F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10533888" y="3790187"/>
            <a:ext cx="118872" cy="118872"/>
          </a:xfrm>
          <a:prstGeom prst="triangl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71632" y="3703320"/>
            <a:ext cx="292608" cy="292608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547104" y="4718304"/>
            <a:ext cx="73152" cy="73152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11696" y="4617720"/>
            <a:ext cx="4315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Lato"/>
              </a:rPr>
              <a:t>Flexível para relações suaves e complexas.</a:t>
            </a:r>
          </a:p>
        </p:txBody>
      </p:sp>
      <p:sp>
        <p:nvSpPr>
          <p:cNvPr id="96" name="Oval 95"/>
          <p:cNvSpPr/>
          <p:nvPr/>
        </p:nvSpPr>
        <p:spPr>
          <a:xfrm>
            <a:off x="6547104" y="5111496"/>
            <a:ext cx="73152" cy="73152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11696" y="5010912"/>
            <a:ext cx="4315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Lato"/>
              </a:rPr>
              <a:t>Exige escala, regularização e ajuste.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47104" y="553212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8BBCC"/>
                </a:solidFill>
                <a:latin typeface="Lato"/>
              </a:rPr>
              <a:t>ATENÇÃO  •  sem recorrência, não mantém estado temporal por si só.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XGBOOST + MLP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SEQUÊNCIAS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RNN: o estado carrega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Cada passo combina a observação atual com um resumo do passado.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144" y="1938528"/>
            <a:ext cx="658368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1947672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D9C5"/>
                </a:solidFill>
                <a:latin typeface="Lato"/>
              </a:rPr>
              <a:t>xₜ₋4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81328" y="2258568"/>
            <a:ext cx="0" cy="521208"/>
          </a:xfrm>
          <a:prstGeom prst="line">
            <a:avLst/>
          </a:prstGeom>
          <a:ln w="2159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421892" y="2724912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852928"/>
            <a:ext cx="1298448" cy="960120"/>
          </a:xfrm>
          <a:prstGeom prst="roundRect">
            <a:avLst/>
          </a:prstGeom>
          <a:solidFill>
            <a:srgbClr val="15334A"/>
          </a:solidFill>
          <a:ln w="1905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035808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0156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h1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39696" y="3328416"/>
            <a:ext cx="576072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2670048" y="3268980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18103" y="1938528"/>
            <a:ext cx="658368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3" y="1947672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D9C5"/>
                </a:solidFill>
                <a:latin typeface="Lato"/>
              </a:rPr>
              <a:t>xₜ₋3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47287" y="2258568"/>
            <a:ext cx="0" cy="521208"/>
          </a:xfrm>
          <a:prstGeom prst="line">
            <a:avLst/>
          </a:prstGeom>
          <a:ln w="2159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387852" y="2724912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7208" y="2852928"/>
            <a:ext cx="1298448" cy="960120"/>
          </a:xfrm>
          <a:prstGeom prst="roundRect">
            <a:avLst/>
          </a:prstGeom>
          <a:solidFill>
            <a:srgbClr val="15334A"/>
          </a:solidFill>
          <a:ln w="1905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3035808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40156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h2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05656" y="3328416"/>
            <a:ext cx="576071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636008" y="3268980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4064" y="1938528"/>
            <a:ext cx="658368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4064" y="1947672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D9C5"/>
                </a:solidFill>
                <a:latin typeface="Lato"/>
              </a:rPr>
              <a:t>xₜ₋2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13248" y="2258568"/>
            <a:ext cx="0" cy="521208"/>
          </a:xfrm>
          <a:prstGeom prst="line">
            <a:avLst/>
          </a:prstGeom>
          <a:ln w="2159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5353812" y="2724912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73168" y="2852928"/>
            <a:ext cx="1298448" cy="960120"/>
          </a:xfrm>
          <a:prstGeom prst="roundRect">
            <a:avLst/>
          </a:prstGeom>
          <a:solidFill>
            <a:srgbClr val="15334A"/>
          </a:solidFill>
          <a:ln w="1905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035808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40156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h3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71616" y="3328416"/>
            <a:ext cx="576072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6601968" y="3268980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0023" y="1938528"/>
            <a:ext cx="658368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0023" y="1947672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D9C5"/>
                </a:solidFill>
                <a:latin typeface="Lato"/>
              </a:rPr>
              <a:t>xₜ₋1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79207" y="2258568"/>
            <a:ext cx="0" cy="521208"/>
          </a:xfrm>
          <a:prstGeom prst="line">
            <a:avLst/>
          </a:prstGeom>
          <a:ln w="2159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319771" y="2724912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39127" y="2852928"/>
            <a:ext cx="1298448" cy="960120"/>
          </a:xfrm>
          <a:prstGeom prst="roundRect">
            <a:avLst/>
          </a:prstGeom>
          <a:solidFill>
            <a:srgbClr val="15334A"/>
          </a:solidFill>
          <a:ln w="1905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9127" y="3035808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7" y="340156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h4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37575" y="3328416"/>
            <a:ext cx="576072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8567928" y="3268980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15984" y="1938528"/>
            <a:ext cx="658368" cy="3108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5984" y="1947672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D9C5"/>
                </a:solidFill>
                <a:latin typeface="Lato"/>
              </a:rPr>
              <a:t>xₜ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45167" y="2258568"/>
            <a:ext cx="0" cy="521208"/>
          </a:xfrm>
          <a:prstGeom prst="line">
            <a:avLst/>
          </a:prstGeom>
          <a:ln w="2159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9285732" y="2724912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705088" y="2852928"/>
            <a:ext cx="1298448" cy="960120"/>
          </a:xfrm>
          <a:prstGeom prst="roundRect">
            <a:avLst/>
          </a:prstGeom>
          <a:solidFill>
            <a:srgbClr val="15334A"/>
          </a:solidFill>
          <a:ln w="19050">
            <a:solidFill>
              <a:srgbClr val="2BD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088" y="3035808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340156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h5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63456" y="3822191"/>
            <a:ext cx="0" cy="768097"/>
          </a:xfrm>
          <a:prstGeom prst="line">
            <a:avLst/>
          </a:prstGeom>
          <a:ln w="25400">
            <a:solidFill>
              <a:srgbClr val="C5F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9304020" y="4544568"/>
            <a:ext cx="118872" cy="118872"/>
          </a:xfrm>
          <a:prstGeom prst="triangl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95360" y="4709160"/>
            <a:ext cx="1554480" cy="310896"/>
          </a:xfrm>
          <a:prstGeom prst="roundRect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4718304"/>
            <a:ext cx="1554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1421"/>
                </a:solidFill>
                <a:latin typeface="Lato"/>
              </a:rPr>
              <a:t>previsão ŷₜ₊₁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" y="4709160"/>
            <a:ext cx="6720840" cy="1078992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41248" y="4709160"/>
            <a:ext cx="73152" cy="1078992"/>
          </a:xfrm>
          <a:prstGeom prst="round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9286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8B5C"/>
                </a:solidFill>
                <a:latin typeface="Lato"/>
              </a:rPr>
              <a:t>FORÇA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4837176"/>
            <a:ext cx="52852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Lato"/>
              </a:rPr>
              <a:t>Ordem e dependências locais entram diretamente na arquitetura.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53675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6174"/>
                </a:solidFill>
                <a:latin typeface="Lato"/>
              </a:rPr>
              <a:t>LIMITE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528523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BCC"/>
                </a:solidFill>
                <a:latin typeface="Lato"/>
              </a:rPr>
              <a:t>Sinais distantes podem enfraquecer durante o treinamento.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RNN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MEMÓRIA SELETIVA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LSTM: lembrar também significa esquecer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A célula controla quais informações entram, permanecem e saem.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7571231" cy="351129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estado da memória  cₜ₋₁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4128" y="2761488"/>
            <a:ext cx="6766560" cy="0"/>
          </a:xfrm>
          <a:prstGeom prst="line">
            <a:avLst/>
          </a:prstGeom>
          <a:ln w="50800">
            <a:solidFill>
              <a:srgbClr val="C5F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7708392" y="2679192"/>
            <a:ext cx="164592" cy="164592"/>
          </a:xfrm>
          <a:prstGeom prst="triangl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2258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5F36A"/>
                </a:solidFill>
                <a:latin typeface="Lato"/>
              </a:rPr>
              <a:t>cₜ</a:t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3346704"/>
            <a:ext cx="566928" cy="566928"/>
          </a:xfrm>
          <a:prstGeom prst="ellipse">
            <a:avLst/>
          </a:prstGeom>
          <a:solidFill>
            <a:srgbClr val="0A1B2B"/>
          </a:solidFill>
          <a:ln w="25400">
            <a:solidFill>
              <a:srgbClr val="F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65576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8B5C"/>
                </a:solidFill>
                <a:latin typeface="Lato"/>
              </a:rPr>
              <a:t>×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453896" y="2798064"/>
            <a:ext cx="0" cy="548640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1832" y="4142232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8B5C"/>
                </a:solidFill>
                <a:latin typeface="Lato"/>
              </a:rPr>
              <a:t>ESQUECER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40740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o que sai</a:t>
            </a:r>
          </a:p>
        </p:txBody>
      </p:sp>
      <p:sp>
        <p:nvSpPr>
          <p:cNvPr id="17" name="Oval 16"/>
          <p:cNvSpPr/>
          <p:nvPr/>
        </p:nvSpPr>
        <p:spPr>
          <a:xfrm>
            <a:off x="3227832" y="3346704"/>
            <a:ext cx="566928" cy="566928"/>
          </a:xfrm>
          <a:prstGeom prst="ellipse">
            <a:avLst/>
          </a:prstGeom>
          <a:solidFill>
            <a:srgbClr val="0A1B2B"/>
          </a:solidFill>
          <a:ln w="25400">
            <a:solidFill>
              <a:srgbClr val="2BD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7832" y="3465576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D9C5"/>
                </a:solidFill>
                <a:latin typeface="Lato"/>
              </a:rPr>
              <a:t>+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511296" y="2798064"/>
            <a:ext cx="0" cy="548640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99232" y="4142232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D9C5"/>
                </a:solidFill>
                <a:latin typeface="Lato"/>
              </a:rPr>
              <a:t>ENTRADA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1" y="440740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o que entra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2" y="3346704"/>
            <a:ext cx="566928" cy="566928"/>
          </a:xfrm>
          <a:prstGeom prst="ellipse">
            <a:avLst/>
          </a:prstGeom>
          <a:solidFill>
            <a:srgbClr val="0A1B2B"/>
          </a:solidFill>
          <a:ln w="2540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3465576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9C8BFF"/>
                </a:solidFill>
                <a:latin typeface="Lato"/>
              </a:rPr>
              <a:t>σ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568696" y="2798064"/>
            <a:ext cx="0" cy="548640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56632" y="4142232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8BFF"/>
                </a:solidFill>
                <a:latin typeface="Lato"/>
              </a:rPr>
              <a:t>SAÍDA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40740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o que vira hₜ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901184"/>
            <a:ext cx="1572768" cy="310896"/>
          </a:xfrm>
          <a:prstGeom prst="roundRect">
            <a:avLst/>
          </a:prstGeom>
          <a:solidFill>
            <a:srgbClr val="0A1B2B"/>
          </a:solidFill>
          <a:ln w="1270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910328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8FC"/>
                </a:solidFill>
                <a:latin typeface="Lato"/>
              </a:rPr>
              <a:t>xₜ + hₜ₋₁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1453896" y="3931920"/>
            <a:ext cx="2715767" cy="96926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511296" y="3931920"/>
            <a:ext cx="658367" cy="96926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169663" y="3931920"/>
            <a:ext cx="1399033" cy="96926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67928" y="1993392"/>
            <a:ext cx="3054096" cy="3511296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67928" y="1993392"/>
            <a:ext cx="73152" cy="3511296"/>
          </a:xfrm>
          <a:prstGeom prst="roundRect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97112" y="2331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5F36A"/>
                </a:solidFill>
                <a:latin typeface="Lato"/>
              </a:rPr>
              <a:t>POR QUE FUNCIONA?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2779776"/>
            <a:ext cx="222199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Lato"/>
              </a:rPr>
              <a:t>O caminho da memória reduz a perda de sinais relevantes em horizontes maiores.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4224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8B5C"/>
                </a:solidFill>
                <a:latin typeface="Lato"/>
              </a:rPr>
              <a:t>Trade-off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4572000"/>
            <a:ext cx="222199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BCC"/>
                </a:solidFill>
                <a:latin typeface="Lato"/>
              </a:rPr>
              <a:t>Mais parâmetros e treinamento mais cuidadoso que uma RNN simples.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MÚLTIPLAS ESCALAS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DilatedRNN: conexões que saltam no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O estado consulta diretamente hₜ₋ₛ; diferentes saltos capturam ritmos diferentes.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0</a:t>
            </a:r>
          </a:p>
        </p:txBody>
      </p:sp>
      <p:sp>
        <p:nvSpPr>
          <p:cNvPr id="9" name="Oval 8"/>
          <p:cNvSpPr/>
          <p:nvPr/>
        </p:nvSpPr>
        <p:spPr>
          <a:xfrm>
            <a:off x="1847088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9656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798064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749039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700016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650992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59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6</a:t>
            </a:r>
          </a:p>
        </p:txBody>
      </p:sp>
      <p:sp>
        <p:nvSpPr>
          <p:cNvPr id="21" name="Oval 20"/>
          <p:cNvSpPr/>
          <p:nvPr/>
        </p:nvSpPr>
        <p:spPr>
          <a:xfrm>
            <a:off x="7552944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0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8</a:t>
            </a:r>
          </a:p>
        </p:txBody>
      </p:sp>
      <p:sp>
        <p:nvSpPr>
          <p:cNvPr id="25" name="Oval 24"/>
          <p:cNvSpPr/>
          <p:nvPr/>
        </p:nvSpPr>
        <p:spPr>
          <a:xfrm>
            <a:off x="9454896" y="4846320"/>
            <a:ext cx="329184" cy="329184"/>
          </a:xfrm>
          <a:prstGeom prst="ellipse">
            <a:avLst/>
          </a:prstGeom>
          <a:solidFill>
            <a:srgbClr val="15334A"/>
          </a:solidFill>
          <a:ln w="1524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9</a:t>
            </a:r>
          </a:p>
        </p:txBody>
      </p:sp>
      <p:sp>
        <p:nvSpPr>
          <p:cNvPr id="27" name="Oval 26"/>
          <p:cNvSpPr/>
          <p:nvPr/>
        </p:nvSpPr>
        <p:spPr>
          <a:xfrm>
            <a:off x="10405872" y="4846320"/>
            <a:ext cx="329184" cy="329184"/>
          </a:xfrm>
          <a:prstGeom prst="ellipse">
            <a:avLst/>
          </a:prstGeom>
          <a:solidFill>
            <a:srgbClr val="9C8BFF"/>
          </a:solidFill>
          <a:ln w="1524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52760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C"/>
                </a:solidFill>
                <a:latin typeface="Lato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4512" y="52303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tempo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619488" y="4325112"/>
            <a:ext cx="0" cy="521208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19488" y="4325112"/>
            <a:ext cx="950976" cy="0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570464" y="4325112"/>
            <a:ext cx="0" cy="521208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0511028" y="4718304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6112" y="4160520"/>
            <a:ext cx="2331720" cy="310896"/>
          </a:xfrm>
          <a:prstGeom prst="roundRect">
            <a:avLst/>
          </a:prstGeom>
          <a:solidFill>
            <a:srgbClr val="0A1B2B"/>
          </a:solidFill>
          <a:ln w="12700">
            <a:solidFill>
              <a:srgbClr val="2BD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169664"/>
            <a:ext cx="2331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D9C5"/>
                </a:solidFill>
                <a:latin typeface="Lato"/>
              </a:rPr>
              <a:t>s = 1  •  curto prazo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668512" y="3566160"/>
            <a:ext cx="0" cy="128016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668512" y="3566160"/>
            <a:ext cx="1901952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70464" y="3566160"/>
            <a:ext cx="0" cy="128016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10511028" y="4718304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6112" y="3401568"/>
            <a:ext cx="2331720" cy="310896"/>
          </a:xfrm>
          <a:prstGeom prst="roundRect">
            <a:avLst/>
          </a:prstGeom>
          <a:solidFill>
            <a:srgbClr val="0A1B2B"/>
          </a:solidFill>
          <a:ln w="12700">
            <a:solidFill>
              <a:srgbClr val="F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410711"/>
            <a:ext cx="2331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8B5C"/>
                </a:solidFill>
                <a:latin typeface="Lato"/>
              </a:rPr>
              <a:t>s = 2  •  padrão intermediário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766560" y="2679192"/>
            <a:ext cx="0" cy="2167128"/>
          </a:xfrm>
          <a:prstGeom prst="line">
            <a:avLst/>
          </a:prstGeom>
          <a:ln w="2540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66560" y="2679192"/>
            <a:ext cx="3803904" cy="0"/>
          </a:xfrm>
          <a:prstGeom prst="line">
            <a:avLst/>
          </a:prstGeom>
          <a:ln w="2540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70464" y="2679192"/>
            <a:ext cx="0" cy="2167128"/>
          </a:xfrm>
          <a:prstGeom prst="line">
            <a:avLst/>
          </a:prstGeom>
          <a:ln w="2540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10511028" y="4718304"/>
            <a:ext cx="118872" cy="118872"/>
          </a:xfrm>
          <a:prstGeom prst="triangl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6112" y="2514600"/>
            <a:ext cx="2331720" cy="310896"/>
          </a:xfrm>
          <a:prstGeom prst="roundRect">
            <a:avLst/>
          </a:prstGeom>
          <a:solidFill>
            <a:srgbClr val="0A1B2B"/>
          </a:solidFill>
          <a:ln w="12700">
            <a:solidFill>
              <a:srgbClr val="9C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2523744"/>
            <a:ext cx="2331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8BFF"/>
                </a:solidFill>
                <a:latin typeface="Lato"/>
              </a:rPr>
              <a:t>s = 4  •  padrão mais amplo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54112" y="1700784"/>
            <a:ext cx="3858768" cy="1417320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754112" y="1700784"/>
            <a:ext cx="73152" cy="1417320"/>
          </a:xfrm>
          <a:prstGeom prst="roundRect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83296" y="1965960"/>
            <a:ext cx="2651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8BFF"/>
                </a:solidFill>
                <a:latin typeface="Lato"/>
              </a:rPr>
              <a:t>RECORRÊNCIA DILATADA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2386584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Lato"/>
              </a:rPr>
              <a:t>hₜ = φ(Wₓxₜ + Wₕhₜ₋ₛ + b)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" y="5669280"/>
            <a:ext cx="10241280" cy="54864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5843016"/>
            <a:ext cx="9838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BBCC"/>
                </a:solidFill>
                <a:latin typeface="Lato"/>
              </a:rPr>
              <a:t>NA IMPLEMENTAÇÃO  •  sequência real entra na recorrência; covariáveis auxiliares são combinadas depois do codificador.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DILATEDRNN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PREVISÃO PROBABILÍSTICA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DeepAR: não prever um número, mas futuros possíveis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Um modelo global aprende padrões compartilhados e produz uma distribuição por passo.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182112" cy="363931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677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D9C5"/>
                </a:solidFill>
                <a:latin typeface="Lato"/>
              </a:rPr>
              <a:t>MUITAS SÉRIES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78408" y="2696573"/>
            <a:ext cx="310896" cy="119779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9304" y="2696573"/>
            <a:ext cx="310896" cy="22207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00200" y="2718780"/>
            <a:ext cx="310895" cy="98170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11095" y="2813773"/>
            <a:ext cx="310897" cy="3177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21992" y="2680414"/>
            <a:ext cx="310896" cy="133359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32888" y="2578754"/>
            <a:ext cx="310896" cy="101660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43784" y="2578754"/>
            <a:ext cx="310896" cy="45481"/>
          </a:xfrm>
          <a:prstGeom prst="line">
            <a:avLst/>
          </a:prstGeom>
          <a:ln w="2286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78408" y="3248837"/>
            <a:ext cx="310896" cy="13228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9304" y="3248837"/>
            <a:ext cx="310896" cy="96657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00200" y="3345494"/>
            <a:ext cx="310895" cy="31449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11095" y="3263621"/>
            <a:ext cx="310897" cy="113322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21992" y="3138056"/>
            <a:ext cx="310896" cy="125565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32888" y="3138056"/>
            <a:ext cx="310896" cy="12654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43784" y="3150710"/>
            <a:ext cx="310896" cy="98846"/>
          </a:xfrm>
          <a:prstGeom prst="line">
            <a:avLst/>
          </a:prstGeom>
          <a:ln w="2286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8408" y="3785595"/>
            <a:ext cx="310896" cy="84467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89304" y="3870062"/>
            <a:ext cx="310896" cy="61223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0200" y="3846082"/>
            <a:ext cx="310895" cy="85203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11095" y="3705785"/>
            <a:ext cx="310897" cy="140297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221992" y="3682440"/>
            <a:ext cx="310896" cy="23345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32888" y="3682440"/>
            <a:ext cx="310896" cy="94317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3784" y="3776757"/>
            <a:ext cx="310896" cy="40315"/>
          </a:xfrm>
          <a:prstGeom prst="line">
            <a:avLst/>
          </a:prstGeom>
          <a:ln w="2286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8408" y="4393213"/>
            <a:ext cx="310896" cy="83486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289304" y="4425183"/>
            <a:ext cx="310896" cy="51516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600200" y="4280646"/>
            <a:ext cx="310895" cy="144537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911095" y="4221345"/>
            <a:ext cx="310897" cy="59301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21992" y="4221345"/>
            <a:ext cx="310896" cy="79322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32888" y="4300667"/>
            <a:ext cx="310896" cy="68247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843784" y="4292615"/>
            <a:ext cx="310896" cy="76299"/>
          </a:xfrm>
          <a:prstGeom prst="line">
            <a:avLst/>
          </a:prstGeom>
          <a:ln w="2286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7552" y="5047488"/>
            <a:ext cx="2505456" cy="310896"/>
          </a:xfrm>
          <a:prstGeom prst="roundRect">
            <a:avLst/>
          </a:prstGeom>
          <a:solidFill>
            <a:srgbClr val="0A1B2B"/>
          </a:solidFill>
          <a:ln w="12700">
            <a:solidFill>
              <a:srgbClr val="27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056631"/>
            <a:ext cx="25054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F8FC"/>
                </a:solidFill>
                <a:latin typeface="Lato"/>
              </a:rPr>
              <a:t>parâmetros compartilhados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49624" y="3767328"/>
            <a:ext cx="658368" cy="0"/>
          </a:xfrm>
          <a:prstGeom prst="line">
            <a:avLst/>
          </a:prstGeom>
          <a:ln w="2794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4453128" y="3707891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45152" y="3127248"/>
            <a:ext cx="1261872" cy="1261872"/>
          </a:xfrm>
          <a:prstGeom prst="ellipse">
            <a:avLst/>
          </a:prstGeom>
          <a:solidFill>
            <a:srgbClr val="15334A"/>
          </a:solidFill>
          <a:ln w="25400">
            <a:solidFill>
              <a:srgbClr val="2BD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37413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3712463"/>
            <a:ext cx="12618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global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07024" y="3767328"/>
            <a:ext cx="658368" cy="0"/>
          </a:xfrm>
          <a:prstGeom prst="line">
            <a:avLst/>
          </a:prstGeom>
          <a:ln w="2794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6510528" y="3707891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711696" y="1965960"/>
            <a:ext cx="4901184" cy="3639312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9168" y="226771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6FAE"/>
                </a:solidFill>
                <a:latin typeface="Lato"/>
              </a:rPr>
              <a:t>DISTRIBUIÇÃO DO FUTURO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86600" y="5074920"/>
            <a:ext cx="4142232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086600" y="2715768"/>
            <a:ext cx="0" cy="2359152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086600" y="4251725"/>
            <a:ext cx="256031" cy="247123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342631" y="4098036"/>
            <a:ext cx="256033" cy="153689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598664" y="4067674"/>
            <a:ext cx="256032" cy="30362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854696" y="4067674"/>
            <a:ext cx="256032" cy="38995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110728" y="4106669"/>
            <a:ext cx="256032" cy="7214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366760" y="4009792"/>
            <a:ext cx="256032" cy="104091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622792" y="3790563"/>
            <a:ext cx="256032" cy="219229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878824" y="3530660"/>
            <a:ext cx="256032" cy="259903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34856" y="2715768"/>
            <a:ext cx="0" cy="2359152"/>
          </a:xfrm>
          <a:prstGeom prst="line">
            <a:avLst/>
          </a:prstGeom>
          <a:ln w="12700">
            <a:solidFill>
              <a:srgbClr val="A8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887968" y="5193792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8BBCC"/>
                </a:solidFill>
                <a:latin typeface="Lato"/>
              </a:rPr>
              <a:t>agora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418320" y="3354248"/>
            <a:ext cx="0" cy="246888"/>
          </a:xfrm>
          <a:prstGeom prst="line">
            <a:avLst/>
          </a:prstGeom>
          <a:ln w="76200">
            <a:solidFill>
              <a:srgbClr val="50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01784" y="3215617"/>
            <a:ext cx="0" cy="347472"/>
          </a:xfrm>
          <a:prstGeom prst="line">
            <a:avLst/>
          </a:prstGeom>
          <a:ln w="76200">
            <a:solidFill>
              <a:srgbClr val="50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985248" y="3038764"/>
            <a:ext cx="0" cy="448056"/>
          </a:xfrm>
          <a:prstGeom prst="line">
            <a:avLst/>
          </a:prstGeom>
          <a:ln w="76200">
            <a:solidFill>
              <a:srgbClr val="50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268712" y="2855979"/>
            <a:ext cx="0" cy="548640"/>
          </a:xfrm>
          <a:prstGeom prst="line">
            <a:avLst/>
          </a:prstGeom>
          <a:ln w="76200">
            <a:solidFill>
              <a:srgbClr val="50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552176" y="2705006"/>
            <a:ext cx="0" cy="649224"/>
          </a:xfrm>
          <a:prstGeom prst="line">
            <a:avLst/>
          </a:prstGeom>
          <a:ln w="76200">
            <a:solidFill>
              <a:srgbClr val="50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835640" y="2594341"/>
            <a:ext cx="0" cy="749808"/>
          </a:xfrm>
          <a:prstGeom prst="line">
            <a:avLst/>
          </a:prstGeom>
          <a:ln w="76200">
            <a:solidFill>
              <a:srgbClr val="50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134856" y="3354248"/>
            <a:ext cx="283464" cy="176412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418320" y="3215617"/>
            <a:ext cx="283464" cy="138631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701784" y="3038764"/>
            <a:ext cx="283464" cy="176853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985248" y="2855979"/>
            <a:ext cx="283464" cy="182785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68712" y="2705006"/>
            <a:ext cx="283464" cy="150973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552176" y="2594341"/>
            <a:ext cx="283464" cy="110665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134856" y="3530660"/>
            <a:ext cx="283464" cy="70476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418320" y="3563089"/>
            <a:ext cx="283464" cy="38047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701784" y="3486820"/>
            <a:ext cx="283464" cy="76269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5248" y="3404619"/>
            <a:ext cx="283464" cy="82201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268712" y="3354230"/>
            <a:ext cx="283464" cy="50389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52176" y="3344149"/>
            <a:ext cx="283464" cy="10081"/>
          </a:xfrm>
          <a:prstGeom prst="line">
            <a:avLst/>
          </a:prstGeom>
          <a:ln w="12700">
            <a:solidFill>
              <a:srgbClr val="F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134856" y="3477692"/>
            <a:ext cx="283464" cy="52968"/>
          </a:xfrm>
          <a:prstGeom prst="line">
            <a:avLst/>
          </a:prstGeom>
          <a:ln w="3175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418320" y="3389353"/>
            <a:ext cx="283464" cy="88339"/>
          </a:xfrm>
          <a:prstGeom prst="line">
            <a:avLst/>
          </a:prstGeom>
          <a:ln w="3175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701784" y="3262792"/>
            <a:ext cx="283464" cy="126561"/>
          </a:xfrm>
          <a:prstGeom prst="line">
            <a:avLst/>
          </a:prstGeom>
          <a:ln w="3175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985248" y="3130299"/>
            <a:ext cx="283464" cy="132493"/>
          </a:xfrm>
          <a:prstGeom prst="line">
            <a:avLst/>
          </a:prstGeom>
          <a:ln w="3175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68712" y="3029618"/>
            <a:ext cx="283464" cy="100681"/>
          </a:xfrm>
          <a:prstGeom prst="line">
            <a:avLst/>
          </a:prstGeom>
          <a:ln w="3175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552176" y="2969245"/>
            <a:ext cx="283464" cy="60373"/>
          </a:xfrm>
          <a:prstGeom prst="line">
            <a:avLst/>
          </a:prstGeom>
          <a:ln w="3175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985248" y="2816352"/>
            <a:ext cx="566928" cy="310896"/>
          </a:xfrm>
          <a:prstGeom prst="round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85248" y="2825496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6FAE"/>
                </a:solidFill>
                <a:latin typeface="Lato"/>
              </a:rPr>
              <a:t>P10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88752" y="2816352"/>
            <a:ext cx="566928" cy="310896"/>
          </a:xfrm>
          <a:prstGeom prst="round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88752" y="2825496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D166"/>
                </a:solidFill>
                <a:latin typeface="Lato"/>
              </a:rPr>
              <a:t>P50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85248" y="3182112"/>
            <a:ext cx="566928" cy="310896"/>
          </a:xfrm>
          <a:prstGeom prst="round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85248" y="3191256"/>
            <a:ext cx="5669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6FAE"/>
                </a:solidFill>
                <a:latin typeface="Lato"/>
              </a:rPr>
              <a:t>P90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" y="5870448"/>
            <a:ext cx="10515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D9C5"/>
                </a:solidFill>
                <a:latin typeface="Lato"/>
              </a:rPr>
              <a:t>Útil quando o custo da incerteza importa: estoque, capacidade, risco e energia.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DEEPAR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ABORDAGEM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DeepNPTS-inspired: o histórico vira um conjunto de candidatos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Em vez de gerar qualquer valor, a previsão reutiliza observações passadas com pesos aprendidos.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12848"/>
            <a:ext cx="2084831" cy="299923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386584"/>
            <a:ext cx="329184" cy="329184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5059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230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D9C5"/>
                </a:solidFill>
                <a:latin typeface="Lato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9087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padrão recente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675887"/>
            <a:ext cx="384048" cy="0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081528" y="3616452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2212848"/>
            <a:ext cx="2084831" cy="299923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64992" y="2386584"/>
            <a:ext cx="329184" cy="329184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45059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243230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8B5C"/>
                </a:solidFill>
                <a:latin typeface="Lato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69087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similaridade + recência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85231" y="3675887"/>
            <a:ext cx="384049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5623560" y="3616452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70448" y="2212848"/>
            <a:ext cx="2084831" cy="299923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386584"/>
            <a:ext cx="329184" cy="329184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45059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3230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8BFF"/>
                </a:solidFill>
                <a:latin typeface="Lato"/>
              </a:rPr>
              <a:t>PESOS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469087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softmax sobre o histórico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5279" y="3675887"/>
            <a:ext cx="384049" cy="0"/>
          </a:xfrm>
          <a:prstGeom prst="line">
            <a:avLst/>
          </a:prstGeom>
          <a:ln w="25400">
            <a:solidFill>
              <a:srgbClr val="9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8293608" y="3616452"/>
            <a:ext cx="118872" cy="118872"/>
          </a:xfrm>
          <a:prstGeom prst="triangl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40496" y="2212848"/>
            <a:ext cx="2084831" cy="299923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05088" y="2386584"/>
            <a:ext cx="329184" cy="32918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245059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43230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166"/>
                </a:solidFill>
                <a:latin typeface="Lato"/>
              </a:rPr>
              <a:t>PREVISÃO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469087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amostra valores observados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41832" y="3827109"/>
            <a:ext cx="192024" cy="232827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33856" y="3762297"/>
            <a:ext cx="192024" cy="64812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25880" y="3762297"/>
            <a:ext cx="192024" cy="130652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17904" y="3892949"/>
            <a:ext cx="192024" cy="190031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09928" y="4082980"/>
            <a:ext cx="192024" cy="63649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01952" y="4003869"/>
            <a:ext cx="192024" cy="142760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93976" y="3747363"/>
            <a:ext cx="192024" cy="256506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529584" y="3127248"/>
            <a:ext cx="347472" cy="146304"/>
          </a:xfrm>
          <a:prstGeom prst="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9584" y="3438144"/>
            <a:ext cx="749808" cy="146304"/>
          </a:xfrm>
          <a:prstGeom prst="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29584" y="3749039"/>
            <a:ext cx="1170432" cy="146304"/>
          </a:xfrm>
          <a:prstGeom prst="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29584" y="4059935"/>
            <a:ext cx="548640" cy="146304"/>
          </a:xfrm>
          <a:prstGeom prst="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9632" y="3766413"/>
            <a:ext cx="129844" cy="129844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55664" y="3734226"/>
            <a:ext cx="194218" cy="194218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11696" y="3760378"/>
            <a:ext cx="141914" cy="141914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67728" y="3704051"/>
            <a:ext cx="254568" cy="254568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23760" y="3746296"/>
            <a:ext cx="170078" cy="170078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79792" y="3683934"/>
            <a:ext cx="294802" cy="294802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3090672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C8BFF"/>
                </a:solidFill>
                <a:latin typeface="Lato"/>
              </a:rPr>
              <a:t>Σ pᵢ = 1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9011412" y="4274820"/>
            <a:ext cx="0" cy="16916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924544" y="4187952"/>
            <a:ext cx="173736" cy="173736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9482328" y="3630168"/>
            <a:ext cx="0" cy="813816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345168" y="3493008"/>
            <a:ext cx="274320" cy="27432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9930384" y="4078224"/>
            <a:ext cx="0" cy="36576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9820656" y="3968496"/>
            <a:ext cx="219456" cy="219456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0451592" y="3392424"/>
            <a:ext cx="0" cy="105156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277856" y="3218688"/>
            <a:ext cx="347472" cy="34747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869680" y="4443984"/>
            <a:ext cx="1993392" cy="0"/>
          </a:xfrm>
          <a:prstGeom prst="line">
            <a:avLst/>
          </a:prstGeom>
          <a:ln w="1524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58368" y="5504688"/>
            <a:ext cx="10844784" cy="640080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8368" y="5504688"/>
            <a:ext cx="73152" cy="6400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2688" y="5705856"/>
            <a:ext cx="101864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IMPORTANTE  •  aqui tratamos uma aproximação experimental inspirada no princípio não paramétrico — não uma reprodução integral do DeepNPTS oficial.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DEEPNPTS-INSPIRED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Os sete modelos em uma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527048"/>
            <a:ext cx="1417320" cy="457200"/>
          </a:xfrm>
          <a:prstGeom prst="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64208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BBCC"/>
                </a:solidFill>
                <a:latin typeface="Lato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4248" y="1527048"/>
            <a:ext cx="2029968" cy="457200"/>
          </a:xfrm>
          <a:prstGeom prst="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3976" y="1664208"/>
            <a:ext cx="1810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BBCC"/>
                </a:solidFill>
                <a:latin typeface="Lato"/>
              </a:rPr>
              <a:t>ENTRADA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6" y="1527048"/>
            <a:ext cx="1993392" cy="457200"/>
          </a:xfrm>
          <a:prstGeom prst="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664208"/>
            <a:ext cx="17739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BBCC"/>
                </a:solidFill>
                <a:latin typeface="Lato"/>
              </a:rPr>
              <a:t>MEMÓRIA / ESCALA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527048"/>
            <a:ext cx="1444752" cy="457200"/>
          </a:xfrm>
          <a:prstGeom prst="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664208"/>
            <a:ext cx="12252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BBCC"/>
                </a:solidFill>
                <a:latin typeface="Lato"/>
              </a:rPr>
              <a:t>SAÍDA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527048"/>
            <a:ext cx="2359152" cy="457200"/>
          </a:xfrm>
          <a:prstGeom prst="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664208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BBCC"/>
                </a:solidFill>
                <a:latin typeface="Lato"/>
              </a:rPr>
              <a:t>PONTO FORTE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11512" y="1527048"/>
            <a:ext cx="1773936" cy="457200"/>
          </a:xfrm>
          <a:prstGeom prst="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66420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BBCC"/>
                </a:solidFill>
                <a:latin typeface="Lato"/>
              </a:rPr>
              <a:t>CUIDADO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984248"/>
            <a:ext cx="1417320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13055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8B5C"/>
                </a:solidFill>
                <a:latin typeface="Lato"/>
              </a:rPr>
              <a:t>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1984248"/>
            <a:ext cx="2029968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93976" y="213055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atributos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14216" y="1984248"/>
            <a:ext cx="199339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23944" y="213055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lags explícitos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7608" y="1984248"/>
            <a:ext cx="14447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213055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pontual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984248"/>
            <a:ext cx="23591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13055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tabular robusto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1512" y="1984248"/>
            <a:ext cx="1773936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1305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engenharia temporal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1984248"/>
            <a:ext cx="54864" cy="548640"/>
          </a:xfrm>
          <a:prstGeom prst="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2532888"/>
            <a:ext cx="1417320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267919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DA3FF"/>
                </a:solidFill>
                <a:latin typeface="Lato"/>
              </a:rPr>
              <a:t>MLP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4248" y="2532888"/>
            <a:ext cx="2029968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3976" y="267919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atributos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4216" y="2532888"/>
            <a:ext cx="199339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23944" y="267919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lags explícitos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07608" y="2532888"/>
            <a:ext cx="144475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7336" y="267919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pontual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2532888"/>
            <a:ext cx="235915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2088" y="267919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não linearidade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11512" y="2532888"/>
            <a:ext cx="1773936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267919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escala / ajuste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2532888"/>
            <a:ext cx="54864" cy="54864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081528"/>
            <a:ext cx="1417320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32278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D9C5"/>
                </a:solidFill>
                <a:latin typeface="Lato"/>
              </a:rPr>
              <a:t>RNN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84248" y="3081528"/>
            <a:ext cx="2029968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93976" y="322783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sequência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14216" y="3081528"/>
            <a:ext cx="199339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23944" y="322783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curta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07608" y="3081528"/>
            <a:ext cx="14447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17336" y="322783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pontual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3081528"/>
            <a:ext cx="23591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2088" y="322783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ordem temporal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11512" y="3081528"/>
            <a:ext cx="1773936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322783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sinais distantes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081528"/>
            <a:ext cx="54864" cy="548640"/>
          </a:xfrm>
          <a:prstGeom prst="rect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3630168"/>
            <a:ext cx="1417320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6656" y="377647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5F36A"/>
                </a:solidFill>
                <a:latin typeface="Lato"/>
              </a:rPr>
              <a:t>LSTM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84248" y="3630168"/>
            <a:ext cx="2029968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93976" y="377647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sequência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4216" y="3630168"/>
            <a:ext cx="199339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23944" y="377647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longa seletiva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07608" y="3630168"/>
            <a:ext cx="144475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17336" y="377647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pontual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60" y="3630168"/>
            <a:ext cx="235915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62088" y="377647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dependência longa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11512" y="3630168"/>
            <a:ext cx="1773936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21240" y="37764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mais parâmetros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3630168"/>
            <a:ext cx="54864" cy="548640"/>
          </a:xfrm>
          <a:prstGeom prst="rect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" y="4178808"/>
            <a:ext cx="1417320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" y="432511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8BFF"/>
                </a:solidFill>
                <a:latin typeface="Lato"/>
              </a:rPr>
              <a:t>DilatedRNN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84248" y="4178808"/>
            <a:ext cx="2029968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93976" y="432511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sequência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14216" y="4178808"/>
            <a:ext cx="199339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23944" y="432511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multiescala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07608" y="4178808"/>
            <a:ext cx="14447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17336" y="432511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pontual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52360" y="4178808"/>
            <a:ext cx="23591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62088" y="432511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ritmos distintos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11512" y="4178808"/>
            <a:ext cx="1773936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21240" y="432511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saltos adequados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4178808"/>
            <a:ext cx="54864" cy="548640"/>
          </a:xfrm>
          <a:prstGeom prst="rect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4727448"/>
            <a:ext cx="1417320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6656" y="487375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6FAE"/>
                </a:solidFill>
                <a:latin typeface="Lato"/>
              </a:rPr>
              <a:t>DeepAR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84248" y="4727448"/>
            <a:ext cx="2029968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93976" y="487375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muitas séries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14216" y="4727448"/>
            <a:ext cx="199339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23944" y="487375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autoregressiva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07608" y="4727448"/>
            <a:ext cx="144475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17336" y="487375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distribuição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4727448"/>
            <a:ext cx="2359152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62088" y="487375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incerteza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11512" y="4727448"/>
            <a:ext cx="1773936" cy="548640"/>
          </a:xfrm>
          <a:prstGeom prst="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21240" y="48737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hipótese da dist.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8" y="4727448"/>
            <a:ext cx="54864" cy="54864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66928" y="5276088"/>
            <a:ext cx="1417320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6656" y="542239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D166"/>
                </a:solidFill>
                <a:latin typeface="Lato"/>
              </a:rPr>
              <a:t>DeepNPTS*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84248" y="5276088"/>
            <a:ext cx="2029968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93976" y="542239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histórico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014216" y="5276088"/>
            <a:ext cx="199339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23944" y="542239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similaridade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07608" y="5276088"/>
            <a:ext cx="14447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17336" y="5422392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Lato"/>
              </a:rPr>
              <a:t>distribuição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52360" y="5276088"/>
            <a:ext cx="2359152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62088" y="542239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valores plausíveis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11512" y="5276088"/>
            <a:ext cx="1773936" cy="548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21240" y="542239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BCC"/>
                </a:solidFill>
                <a:latin typeface="Lato"/>
              </a:rPr>
              <a:t>limite ao histórico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6928" y="5276088"/>
            <a:ext cx="54864" cy="5486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5216" y="598017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BCC"/>
                </a:solidFill>
                <a:latin typeface="Lato"/>
              </a:rPr>
              <a:t>* aproximação experimental inspirada no DeepNPTS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583680" y="5888736"/>
            <a:ext cx="2148840" cy="31089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83680" y="5897880"/>
            <a:ext cx="21488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F8FC"/>
                </a:solidFill>
                <a:latin typeface="Lato"/>
              </a:rPr>
              <a:t>pontual = um melhor palpite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87968" y="5888736"/>
            <a:ext cx="2487168" cy="31089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887968" y="5897880"/>
            <a:ext cx="24871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F8FC"/>
                </a:solidFill>
                <a:latin typeface="Lato"/>
              </a:rPr>
              <a:t>distribuição = cenários + risco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COMPARATIVO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GUIA DE ESCOLHA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Qual modelo testar primeiro?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Use o requisito do problema para reduzir o espaço de busca — depois valide com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2743200" cy="932688"/>
          </a:xfrm>
          <a:prstGeom prst="round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73152" cy="932688"/>
          </a:xfrm>
          <a:prstGeom prst="roundRect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45059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Precisa quantificar incerteza?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01568" y="2615184"/>
            <a:ext cx="640080" cy="0"/>
          </a:xfrm>
          <a:prstGeom prst="line">
            <a:avLst/>
          </a:prstGeom>
          <a:ln w="25400">
            <a:solidFill>
              <a:srgbClr val="2B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986784" y="2555748"/>
            <a:ext cx="118872" cy="118872"/>
          </a:xfrm>
          <a:prstGeom prst="triangl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3087" y="2176272"/>
            <a:ext cx="658368" cy="310896"/>
          </a:xfrm>
          <a:prstGeom prst="roundRect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7" y="2185415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SIM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1993392"/>
            <a:ext cx="2889504" cy="126187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267712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FAE"/>
                </a:solidFill>
                <a:latin typeface="Lato"/>
              </a:rPr>
              <a:t>DeepAR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62432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distribuição paramétrica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993392"/>
            <a:ext cx="3493008" cy="126187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267712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166"/>
                </a:solidFill>
                <a:latin typeface="Lato"/>
              </a:rPr>
              <a:t>DeepNPTS-inspired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624328"/>
            <a:ext cx="2615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massa sobre valores históricos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29968" y="3081528"/>
            <a:ext cx="0" cy="740663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970531" y="3758184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12848" y="3374136"/>
            <a:ext cx="658368" cy="310896"/>
          </a:xfrm>
          <a:prstGeom prst="round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3383279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NÃO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950208"/>
            <a:ext cx="2743200" cy="932688"/>
          </a:xfrm>
          <a:prstGeom prst="roundRect">
            <a:avLst/>
          </a:prstGeom>
          <a:solidFill>
            <a:srgbClr val="1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950208"/>
            <a:ext cx="73152" cy="932688"/>
          </a:xfrm>
          <a:prstGeom prst="round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251960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Lato"/>
              </a:rPr>
              <a:t>A ordem temporal é central?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01568" y="4416552"/>
            <a:ext cx="640080" cy="0"/>
          </a:xfrm>
          <a:prstGeom prst="line">
            <a:avLst/>
          </a:prstGeom>
          <a:ln w="25400">
            <a:solidFill>
              <a:srgbClr val="FF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3986784" y="4357116"/>
            <a:ext cx="118872" cy="118872"/>
          </a:xfrm>
          <a:prstGeom prst="triangl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33087" y="3977639"/>
            <a:ext cx="658368" cy="310896"/>
          </a:xfrm>
          <a:prstGeom prst="round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3087" y="3986783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NÃO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74336" y="3794760"/>
            <a:ext cx="2889504" cy="126187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48656" y="40690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8B5C"/>
                </a:solidFill>
                <a:latin typeface="Lato"/>
              </a:rPr>
              <a:t>XGBoost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8656" y="4425696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baseline tabular forte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794760"/>
            <a:ext cx="3493008" cy="126187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40690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DA3FF"/>
                </a:solidFill>
                <a:latin typeface="Lato"/>
              </a:rPr>
              <a:t>MLP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425696"/>
            <a:ext cx="2670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BCC"/>
                </a:solidFill>
                <a:latin typeface="Lato"/>
              </a:rPr>
              <a:t>quando há dados e não linearidade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29968" y="4882896"/>
            <a:ext cx="0" cy="694944"/>
          </a:xfrm>
          <a:prstGeom prst="line">
            <a:avLst/>
          </a:prstGeom>
          <a:ln w="25400">
            <a:solidFill>
              <a:srgbClr val="C5F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1970531" y="5513832"/>
            <a:ext cx="118872" cy="118872"/>
          </a:xfrm>
          <a:prstGeom prst="triangl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212848" y="5175504"/>
            <a:ext cx="658368" cy="310896"/>
          </a:xfrm>
          <a:prstGeom prst="roundRect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2848" y="5184648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71421"/>
                </a:solidFill>
                <a:latin typeface="Lato"/>
              </a:rPr>
              <a:t>SIM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623560"/>
            <a:ext cx="10917936" cy="576072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5806440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D9C5"/>
                </a:solidFill>
                <a:latin typeface="Lato"/>
              </a:rPr>
              <a:t>RNN  →  baseline sequencial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78224" y="58064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5F36A"/>
                </a:solidFill>
                <a:latin typeface="Lato"/>
              </a:rPr>
              <a:t>LSTM  →  dependências longas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80644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C8BFF"/>
                </a:solidFill>
                <a:latin typeface="Lato"/>
              </a:rPr>
              <a:t>DilatedRNN  →  múltiplas escalas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DECISÃO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0">
                <a:solidFill>
                  <a:srgbClr val="2BD9C5"/>
                </a:solidFill>
                <a:latin typeface="Lato"/>
              </a:rPr>
              <a:t>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8FC"/>
                </a:solidFill>
                <a:latin typeface="Lato"/>
              </a:rPr>
              <a:t>Um experimento justo vale mais que uma arquitetura sofisticada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BBCC"/>
                </a:solidFill>
                <a:latin typeface="Lato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5096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481328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BCC"/>
                </a:solidFill>
                <a:latin typeface="Lato"/>
              </a:rPr>
              <a:t>Fixe o protocolo; varie apenas o modelo.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993392" cy="18653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D9C5"/>
                </a:solidFill>
                <a:latin typeface="Lato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2121408" y="2276856"/>
            <a:ext cx="219456" cy="219456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CORTE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82112"/>
            <a:ext cx="1609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8BBCC"/>
                </a:solidFill>
                <a:latin typeface="Lato"/>
              </a:rPr>
              <a:t>treino antes, teste depois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2103120"/>
            <a:ext cx="1993392" cy="18653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33172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8B5C"/>
                </a:solidFill>
                <a:latin typeface="Lato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2276856"/>
            <a:ext cx="219456" cy="219456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78892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MESMAS 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182112"/>
            <a:ext cx="1609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8BBCC"/>
                </a:solidFill>
                <a:latin typeface="Lato"/>
              </a:rPr>
              <a:t>lags e covariáveis comparáveis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2103120"/>
            <a:ext cx="1993392" cy="18653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233172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C8BFF"/>
                </a:solidFill>
                <a:latin typeface="Lato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6656832" y="2276856"/>
            <a:ext cx="219456" cy="219456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278892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MESMO ORÇAMENTO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182112"/>
            <a:ext cx="1609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8BBCC"/>
                </a:solidFill>
                <a:latin typeface="Lato"/>
              </a:rPr>
              <a:t>busca e tempo controlados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2103120"/>
            <a:ext cx="1993392" cy="18653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33172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5F36A"/>
                </a:solidFill>
                <a:latin typeface="Lato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8924543" y="2276856"/>
            <a:ext cx="219456" cy="219456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5" y="278892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MÉTRICAS CERTAS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5" y="3182112"/>
            <a:ext cx="1609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8BBCC"/>
                </a:solidFill>
                <a:latin typeface="Lato"/>
              </a:rPr>
              <a:t>erro + calibração + custo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2103120"/>
            <a:ext cx="1993392" cy="18653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7" y="233172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FAE"/>
                </a:solidFill>
                <a:latin typeface="Lato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11192255" y="2276856"/>
            <a:ext cx="219456" cy="219456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7" y="278892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5F8FC"/>
                </a:solidFill>
                <a:latin typeface="Lato"/>
              </a:rPr>
              <a:t>REPETIÇÕES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7" y="3182112"/>
            <a:ext cx="1609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8BBCC"/>
                </a:solidFill>
                <a:latin typeface="Lato"/>
              </a:rPr>
              <a:t>sementes e intervalos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15968"/>
            <a:ext cx="10991088" cy="1298448"/>
          </a:xfrm>
          <a:prstGeom prst="roundRect">
            <a:avLst/>
          </a:prstGeom>
          <a:solidFill>
            <a:srgbClr val="0A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5720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8BBCC"/>
                </a:solidFill>
                <a:latin typeface="Lato"/>
              </a:rPr>
              <a:t>TEMPO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8488" y="4553712"/>
            <a:ext cx="5138928" cy="347472"/>
          </a:xfrm>
          <a:prstGeom prst="roundRect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18488" y="4636008"/>
            <a:ext cx="51389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71421"/>
                </a:solidFill>
                <a:latin typeface="Lato"/>
              </a:rPr>
              <a:t>TREINO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57416" y="4553712"/>
            <a:ext cx="1837943" cy="347472"/>
          </a:xfrm>
          <a:prstGeom prst="round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57416" y="4636008"/>
            <a:ext cx="183794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71421"/>
                </a:solidFill>
                <a:latin typeface="Lato"/>
              </a:rPr>
              <a:t>VALIDAÇÃO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4553712"/>
            <a:ext cx="2414016" cy="347472"/>
          </a:xfrm>
          <a:prstGeom prst="roundRect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636008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71421"/>
                </a:solidFill>
                <a:latin typeface="Lato"/>
              </a:rPr>
              <a:t>TESTE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18488" y="5184648"/>
            <a:ext cx="9390888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18488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68880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319272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69664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020056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70448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20840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71232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21624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72016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122408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972800" y="5111496"/>
            <a:ext cx="0" cy="146304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656832" y="5321808"/>
            <a:ext cx="43525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6174"/>
                </a:solidFill>
                <a:latin typeface="Lato"/>
              </a:rPr>
              <a:t>Sem embaralhar o futuro para dentro do passado.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907024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D9C5"/>
                </a:solidFill>
                <a:latin typeface="Lato"/>
              </a:rPr>
              <a:t>Só então compare acurácia, estabilidade, custo e utilidade para a decisão.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92240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SHARE KNOWLEDGE  •  MODELOS DE MACHINE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649224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0">
                <a:solidFill>
                  <a:srgbClr val="6F879A"/>
                </a:solidFill>
                <a:latin typeface="Lato"/>
              </a:rPr>
              <a:t>PROTOCOLO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035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0">
                <a:solidFill>
                  <a:srgbClr val="2BD9C5"/>
                </a:solidFill>
                <a:latin typeface="Lato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8FC"/>
                </a:solidFill>
                <a:latin typeface="Lato"/>
              </a:rPr>
              <a:t>Não existe campeão universal.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BCC"/>
                </a:solidFill>
                <a:latin typeface="Lato"/>
              </a:rPr>
              <a:t>Existe o modelo cuja hipótese combina melhor com os dados, o horizonte e a decisão.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61488"/>
            <a:ext cx="3337560" cy="144475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99008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8B5C"/>
                </a:solidFill>
                <a:latin typeface="Lat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90088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BBCC"/>
                </a:solidFill>
                <a:latin typeface="Lato"/>
              </a:rPr>
              <a:t>REPRESENTAÇÃO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4728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Lato"/>
              </a:rPr>
              <a:t>Tabular ou sequência?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133087"/>
            <a:ext cx="3337560" cy="73152"/>
          </a:xfrm>
          <a:prstGeom prst="rect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5" y="2761488"/>
            <a:ext cx="3337560" cy="144475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299008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D9C5"/>
                </a:solidFill>
                <a:latin typeface="Lat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990088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BBCC"/>
                </a:solidFill>
                <a:latin typeface="Lato"/>
              </a:rPr>
              <a:t>MEMÓRIA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344728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Lato"/>
              </a:rPr>
              <a:t>Curta, longa ou multiescala?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5" y="4133087"/>
            <a:ext cx="3337560" cy="73152"/>
          </a:xfrm>
          <a:prstGeom prst="rect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0144" y="2761488"/>
            <a:ext cx="3337560" cy="1444752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99008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C8BFF"/>
                </a:solidFill>
                <a:latin typeface="Lat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990088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BBCC"/>
                </a:solidFill>
                <a:latin typeface="Lato"/>
              </a:rPr>
              <a:t>SAÍDA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44728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Lato"/>
              </a:rPr>
              <a:t>Ponto ou distribuição?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4133087"/>
            <a:ext cx="3337560" cy="73152"/>
          </a:xfrm>
          <a:prstGeom prst="rect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4892040"/>
            <a:ext cx="164592" cy="164592"/>
          </a:xfrm>
          <a:prstGeom prst="ellipse">
            <a:avLst/>
          </a:prstGeom>
          <a:solidFill>
            <a:srgbClr val="F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XGB</a:t>
            </a:r>
          </a:p>
        </p:txBody>
      </p:sp>
      <p:sp>
        <p:nvSpPr>
          <p:cNvPr id="22" name="Oval 21"/>
          <p:cNvSpPr/>
          <p:nvPr/>
        </p:nvSpPr>
        <p:spPr>
          <a:xfrm>
            <a:off x="2322576" y="4892040"/>
            <a:ext cx="164592" cy="164592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8608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MLP</a:t>
            </a:r>
          </a:p>
        </p:txBody>
      </p:sp>
      <p:sp>
        <p:nvSpPr>
          <p:cNvPr id="24" name="Oval 23"/>
          <p:cNvSpPr/>
          <p:nvPr/>
        </p:nvSpPr>
        <p:spPr>
          <a:xfrm>
            <a:off x="3895344" y="4892040"/>
            <a:ext cx="164592" cy="164592"/>
          </a:xfrm>
          <a:prstGeom prst="ellipse">
            <a:avLst/>
          </a:prstGeom>
          <a:solidFill>
            <a:srgbClr val="2B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51376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RNN</a:t>
            </a:r>
          </a:p>
        </p:txBody>
      </p:sp>
      <p:sp>
        <p:nvSpPr>
          <p:cNvPr id="26" name="Oval 25"/>
          <p:cNvSpPr/>
          <p:nvPr/>
        </p:nvSpPr>
        <p:spPr>
          <a:xfrm>
            <a:off x="5468112" y="4892040"/>
            <a:ext cx="164592" cy="164592"/>
          </a:xfrm>
          <a:prstGeom prst="ellipse">
            <a:avLst/>
          </a:prstGeom>
          <a:solidFill>
            <a:srgbClr val="C5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4144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LSTM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0" y="4892040"/>
            <a:ext cx="164592" cy="164592"/>
          </a:xfrm>
          <a:prstGeom prst="ellipse">
            <a:avLst/>
          </a:prstGeom>
          <a:solidFill>
            <a:srgbClr val="9C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D-RNN</a:t>
            </a:r>
          </a:p>
        </p:txBody>
      </p:sp>
      <p:sp>
        <p:nvSpPr>
          <p:cNvPr id="30" name="Oval 29"/>
          <p:cNvSpPr/>
          <p:nvPr/>
        </p:nvSpPr>
        <p:spPr>
          <a:xfrm>
            <a:off x="8613648" y="4892040"/>
            <a:ext cx="164592" cy="164592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DeepAR</a:t>
            </a:r>
          </a:p>
        </p:txBody>
      </p:sp>
      <p:sp>
        <p:nvSpPr>
          <p:cNvPr id="32" name="Oval 31"/>
          <p:cNvSpPr/>
          <p:nvPr/>
        </p:nvSpPr>
        <p:spPr>
          <a:xfrm>
            <a:off x="10186416" y="489204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2448" y="48463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Lato"/>
              </a:rPr>
              <a:t>NPTS*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8" y="5330952"/>
            <a:ext cx="10680192" cy="0"/>
          </a:xfrm>
          <a:prstGeom prst="line">
            <a:avLst/>
          </a:prstGeom>
          <a:ln w="12700">
            <a:solidFill>
              <a:srgbClr val="274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5742432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D9C5"/>
                </a:solidFill>
                <a:latin typeface="Lato"/>
              </a:rPr>
              <a:t>PERGUNTAS?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5779008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BCC"/>
                </a:solidFill>
                <a:latin typeface="Lato"/>
              </a:rPr>
              <a:t>Comece com uma boa baseline. Evolua quando a evidência pedir.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Machine Learning</dc:title>
  <dc:subject>Share Knowledge sobre XGBoost, MLP, RNN, LSTM, DilatedRNN, DeepAR e aproximação inspirada no DeepNPTS</dc:subject>
  <dc:creator>Equipe do projeto</dc:creator>
  <cp:keywords>machine learning, séries temporais, XGBoost, MLP, RNN, LSTM, DilatedRNN, DeepAR, DeepNPTS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