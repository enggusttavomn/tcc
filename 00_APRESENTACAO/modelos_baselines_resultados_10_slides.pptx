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825C"/>
                </a:solidFill>
                <a:latin typeface="Aptos"/>
              </a:rPr>
              <a:t>MODELO TABULAR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76072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XGBoost: árvores que corrigem os erros anteriores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9BAC5"/>
                </a:solidFill>
                <a:latin typeface="Aptos"/>
              </a:rPr>
              <a:t>Boosting combina várias árvores pequenas em uma previsão pontual.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6517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9BAC5"/>
                </a:solidFill>
                <a:latin typeface="Aptos"/>
              </a:rPr>
              <a:t>01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435608"/>
            <a:ext cx="10908792" cy="0"/>
          </a:xfrm>
          <a:prstGeom prst="line">
            <a:avLst/>
          </a:prstGeom>
          <a:ln w="1016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700784"/>
            <a:ext cx="2880360" cy="149047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65376"/>
            <a:ext cx="2478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F825C"/>
                </a:solidFill>
                <a:latin typeface="Aptos"/>
              </a:rPr>
              <a:t>ENTRADA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76272"/>
            <a:ext cx="2478024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8FA"/>
                </a:solidFill>
                <a:latin typeface="Aptos"/>
              </a:rPr>
              <a:t>12 lags mensais + médias de 3, 6 e 12 meses + calendário + localidade.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74136"/>
            <a:ext cx="2880360" cy="167335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538728"/>
            <a:ext cx="2478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F825C"/>
                </a:solidFill>
                <a:latin typeface="Aptos"/>
              </a:rPr>
              <a:t>TREINAMENTO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849624"/>
            <a:ext cx="247802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60" b="0">
                <a:solidFill>
                  <a:srgbClr val="F5F8FA"/>
                </a:solidFill>
                <a:latin typeface="Aptos"/>
              </a:rPr>
              <a:t>Modelo global; validação temporal escolheu entre 207 e 392 árvores nas cinco sementes.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67328" y="1700784"/>
            <a:ext cx="4892040" cy="3346704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05072" y="1938528"/>
            <a:ext cx="1051560" cy="292608"/>
          </a:xfrm>
          <a:prstGeom prst="roundRect">
            <a:avLst/>
          </a:prstGeom>
          <a:solidFill>
            <a:srgbClr val="0D2232"/>
          </a:solidFill>
          <a:ln w="10160">
            <a:solidFill>
              <a:srgbClr val="FF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9935" y="1956816"/>
            <a:ext cx="941831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FF825C"/>
                </a:solidFill>
                <a:latin typeface="Aptos"/>
              </a:rPr>
              <a:t>BOOSTING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4279392" y="2789285"/>
            <a:ext cx="427939" cy="316017"/>
          </a:xfrm>
          <a:prstGeom prst="line">
            <a:avLst/>
          </a:prstGeom>
          <a:ln w="1397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279392" y="3105302"/>
            <a:ext cx="427939" cy="316017"/>
          </a:xfrm>
          <a:prstGeom prst="line">
            <a:avLst/>
          </a:prstGeom>
          <a:ln w="1397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707331" y="2611526"/>
            <a:ext cx="427939" cy="177759"/>
          </a:xfrm>
          <a:prstGeom prst="line">
            <a:avLst/>
          </a:prstGeom>
          <a:ln w="1397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707331" y="2789285"/>
            <a:ext cx="427939" cy="184343"/>
          </a:xfrm>
          <a:prstGeom prst="line">
            <a:avLst/>
          </a:prstGeom>
          <a:ln w="1397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707331" y="3236976"/>
            <a:ext cx="427939" cy="184343"/>
          </a:xfrm>
          <a:prstGeom prst="line">
            <a:avLst/>
          </a:prstGeom>
          <a:ln w="1397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07331" y="3421319"/>
            <a:ext cx="427939" cy="177759"/>
          </a:xfrm>
          <a:prstGeom prst="line">
            <a:avLst/>
          </a:prstGeom>
          <a:ln w="1397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206240" y="3032150"/>
            <a:ext cx="146304" cy="146304"/>
          </a:xfrm>
          <a:prstGeom prst="ellipse">
            <a:avLst/>
          </a:prstGeom>
          <a:solidFill>
            <a:srgbClr val="55A7FF"/>
          </a:solidFill>
          <a:ln w="1016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34179" y="2716133"/>
            <a:ext cx="146304" cy="146304"/>
          </a:xfrm>
          <a:prstGeom prst="ellipse">
            <a:avLst/>
          </a:prstGeom>
          <a:solidFill>
            <a:srgbClr val="0D2232"/>
          </a:solidFill>
          <a:ln w="1016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34179" y="3348167"/>
            <a:ext cx="146304" cy="146304"/>
          </a:xfrm>
          <a:prstGeom prst="ellipse">
            <a:avLst/>
          </a:prstGeom>
          <a:solidFill>
            <a:srgbClr val="0D2232"/>
          </a:solidFill>
          <a:ln w="1016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62118" y="2538374"/>
            <a:ext cx="146304" cy="146304"/>
          </a:xfrm>
          <a:prstGeom prst="ellipse">
            <a:avLst/>
          </a:prstGeom>
          <a:solidFill>
            <a:srgbClr val="55A7FF"/>
          </a:solidFill>
          <a:ln w="1016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062118" y="2900476"/>
            <a:ext cx="146304" cy="146304"/>
          </a:xfrm>
          <a:prstGeom prst="ellipse">
            <a:avLst/>
          </a:prstGeom>
          <a:solidFill>
            <a:srgbClr val="0D2232"/>
          </a:solidFill>
          <a:ln w="1016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62118" y="3163824"/>
            <a:ext cx="146304" cy="146304"/>
          </a:xfrm>
          <a:prstGeom prst="ellipse">
            <a:avLst/>
          </a:prstGeom>
          <a:solidFill>
            <a:srgbClr val="0D2232"/>
          </a:solidFill>
          <a:ln w="1016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062118" y="3525926"/>
            <a:ext cx="146304" cy="146304"/>
          </a:xfrm>
          <a:prstGeom prst="ellipse">
            <a:avLst/>
          </a:prstGeom>
          <a:solidFill>
            <a:srgbClr val="55A7FF"/>
          </a:solidFill>
          <a:ln w="1016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30952" y="29900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A9BAC5"/>
                </a:solidFill>
                <a:latin typeface="Aptos"/>
              </a:rPr>
              <a:t>+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5422392" y="2789285"/>
            <a:ext cx="427939" cy="316017"/>
          </a:xfrm>
          <a:prstGeom prst="line">
            <a:avLst/>
          </a:prstGeom>
          <a:ln w="1397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422392" y="3105302"/>
            <a:ext cx="427939" cy="316017"/>
          </a:xfrm>
          <a:prstGeom prst="line">
            <a:avLst/>
          </a:prstGeom>
          <a:ln w="1397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850331" y="2611526"/>
            <a:ext cx="427939" cy="177759"/>
          </a:xfrm>
          <a:prstGeom prst="line">
            <a:avLst/>
          </a:prstGeom>
          <a:ln w="1397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850331" y="2789285"/>
            <a:ext cx="427939" cy="184343"/>
          </a:xfrm>
          <a:prstGeom prst="line">
            <a:avLst/>
          </a:prstGeom>
          <a:ln w="1397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850331" y="3236976"/>
            <a:ext cx="427939" cy="184343"/>
          </a:xfrm>
          <a:prstGeom prst="line">
            <a:avLst/>
          </a:prstGeom>
          <a:ln w="1397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850331" y="3421319"/>
            <a:ext cx="427939" cy="177759"/>
          </a:xfrm>
          <a:prstGeom prst="line">
            <a:avLst/>
          </a:prstGeom>
          <a:ln w="1397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5349240" y="3032150"/>
            <a:ext cx="146304" cy="146304"/>
          </a:xfrm>
          <a:prstGeom prst="ellipse">
            <a:avLst/>
          </a:prstGeom>
          <a:solidFill>
            <a:srgbClr val="55A7FF"/>
          </a:solidFill>
          <a:ln w="1016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777179" y="2716133"/>
            <a:ext cx="146304" cy="146304"/>
          </a:xfrm>
          <a:prstGeom prst="ellipse">
            <a:avLst/>
          </a:prstGeom>
          <a:solidFill>
            <a:srgbClr val="0D2232"/>
          </a:solidFill>
          <a:ln w="1016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777179" y="3348167"/>
            <a:ext cx="146304" cy="146304"/>
          </a:xfrm>
          <a:prstGeom prst="ellipse">
            <a:avLst/>
          </a:prstGeom>
          <a:solidFill>
            <a:srgbClr val="0D2232"/>
          </a:solidFill>
          <a:ln w="1016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05118" y="2538374"/>
            <a:ext cx="146304" cy="146304"/>
          </a:xfrm>
          <a:prstGeom prst="ellipse">
            <a:avLst/>
          </a:prstGeom>
          <a:solidFill>
            <a:srgbClr val="55A7FF"/>
          </a:solidFill>
          <a:ln w="1016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05118" y="2900476"/>
            <a:ext cx="146304" cy="146304"/>
          </a:xfrm>
          <a:prstGeom prst="ellipse">
            <a:avLst/>
          </a:prstGeom>
          <a:solidFill>
            <a:srgbClr val="0D2232"/>
          </a:solidFill>
          <a:ln w="1016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05118" y="3163824"/>
            <a:ext cx="146304" cy="146304"/>
          </a:xfrm>
          <a:prstGeom prst="ellipse">
            <a:avLst/>
          </a:prstGeom>
          <a:solidFill>
            <a:srgbClr val="0D2232"/>
          </a:solidFill>
          <a:ln w="1016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205118" y="3525926"/>
            <a:ext cx="146304" cy="146304"/>
          </a:xfrm>
          <a:prstGeom prst="ellipse">
            <a:avLst/>
          </a:prstGeom>
          <a:solidFill>
            <a:srgbClr val="55A7FF"/>
          </a:solidFill>
          <a:ln w="1016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73952" y="29900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A9BAC5"/>
                </a:solidFill>
                <a:latin typeface="Aptos"/>
              </a:rPr>
              <a:t>+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6565392" y="2789285"/>
            <a:ext cx="427939" cy="316017"/>
          </a:xfrm>
          <a:prstGeom prst="line">
            <a:avLst/>
          </a:prstGeom>
          <a:ln w="1397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565392" y="3105302"/>
            <a:ext cx="427939" cy="316017"/>
          </a:xfrm>
          <a:prstGeom prst="line">
            <a:avLst/>
          </a:prstGeom>
          <a:ln w="1397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993331" y="2611526"/>
            <a:ext cx="427939" cy="177759"/>
          </a:xfrm>
          <a:prstGeom prst="line">
            <a:avLst/>
          </a:prstGeom>
          <a:ln w="1397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993331" y="2789285"/>
            <a:ext cx="427939" cy="184343"/>
          </a:xfrm>
          <a:prstGeom prst="line">
            <a:avLst/>
          </a:prstGeom>
          <a:ln w="1397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993331" y="3236976"/>
            <a:ext cx="427939" cy="184343"/>
          </a:xfrm>
          <a:prstGeom prst="line">
            <a:avLst/>
          </a:prstGeom>
          <a:ln w="1397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993331" y="3421319"/>
            <a:ext cx="427939" cy="177759"/>
          </a:xfrm>
          <a:prstGeom prst="line">
            <a:avLst/>
          </a:prstGeom>
          <a:ln w="1397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6492240" y="3032150"/>
            <a:ext cx="146304" cy="146304"/>
          </a:xfrm>
          <a:prstGeom prst="ellipse">
            <a:avLst/>
          </a:prstGeom>
          <a:solidFill>
            <a:srgbClr val="FF825C"/>
          </a:solidFill>
          <a:ln w="10160">
            <a:solidFill>
              <a:srgbClr val="FF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920179" y="2716133"/>
            <a:ext cx="146304" cy="146304"/>
          </a:xfrm>
          <a:prstGeom prst="ellipse">
            <a:avLst/>
          </a:prstGeom>
          <a:solidFill>
            <a:srgbClr val="0D2232"/>
          </a:solidFill>
          <a:ln w="10160">
            <a:solidFill>
              <a:srgbClr val="FF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20179" y="3348167"/>
            <a:ext cx="146304" cy="146304"/>
          </a:xfrm>
          <a:prstGeom prst="ellipse">
            <a:avLst/>
          </a:prstGeom>
          <a:solidFill>
            <a:srgbClr val="0D2232"/>
          </a:solidFill>
          <a:ln w="10160">
            <a:solidFill>
              <a:srgbClr val="FF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348118" y="2538374"/>
            <a:ext cx="146304" cy="146304"/>
          </a:xfrm>
          <a:prstGeom prst="ellipse">
            <a:avLst/>
          </a:prstGeom>
          <a:solidFill>
            <a:srgbClr val="FF825C"/>
          </a:solidFill>
          <a:ln w="10160">
            <a:solidFill>
              <a:srgbClr val="FF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348118" y="2900476"/>
            <a:ext cx="146304" cy="146304"/>
          </a:xfrm>
          <a:prstGeom prst="ellipse">
            <a:avLst/>
          </a:prstGeom>
          <a:solidFill>
            <a:srgbClr val="0D2232"/>
          </a:solidFill>
          <a:ln w="10160">
            <a:solidFill>
              <a:srgbClr val="FF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348118" y="3163824"/>
            <a:ext cx="146304" cy="146304"/>
          </a:xfrm>
          <a:prstGeom prst="ellipse">
            <a:avLst/>
          </a:prstGeom>
          <a:solidFill>
            <a:srgbClr val="0D2232"/>
          </a:solidFill>
          <a:ln w="10160">
            <a:solidFill>
              <a:srgbClr val="FF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348118" y="3525926"/>
            <a:ext cx="146304" cy="146304"/>
          </a:xfrm>
          <a:prstGeom prst="ellipse">
            <a:avLst/>
          </a:prstGeom>
          <a:solidFill>
            <a:srgbClr val="FF825C"/>
          </a:solidFill>
          <a:ln w="10160">
            <a:solidFill>
              <a:srgbClr val="FF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7726679" y="3246120"/>
            <a:ext cx="457200" cy="0"/>
          </a:xfrm>
          <a:prstGeom prst="line">
            <a:avLst/>
          </a:prstGeom>
          <a:ln w="27940">
            <a:solidFill>
              <a:srgbClr val="FF8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8165592" y="3081528"/>
            <a:ext cx="329184" cy="329184"/>
          </a:xfrm>
          <a:prstGeom prst="ellipse">
            <a:avLst/>
          </a:prstGeom>
          <a:solidFill>
            <a:srgbClr val="FF825C"/>
          </a:solidFill>
          <a:ln w="10160">
            <a:solidFill>
              <a:srgbClr val="FF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74736" y="3099816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71724"/>
                </a:solidFill>
                <a:latin typeface="Aptos"/>
              </a:rPr>
              <a:t>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442569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9BAC5"/>
                </a:solidFill>
                <a:latin typeface="Aptos"/>
              </a:rPr>
              <a:t>árvores sucessivas  →  soma das correções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887968" y="1700784"/>
            <a:ext cx="2660904" cy="149047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89136" y="1865376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F825C"/>
                </a:solidFill>
                <a:latin typeface="Aptos"/>
              </a:rPr>
              <a:t>PONTO FORTE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89136" y="2176272"/>
            <a:ext cx="2258568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60" b="0">
                <a:solidFill>
                  <a:srgbClr val="F5F8FA"/>
                </a:solidFill>
                <a:latin typeface="Aptos"/>
              </a:rPr>
              <a:t>Excelente em atributos tabulares e interações não lineares.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887968" y="3374136"/>
            <a:ext cx="2660904" cy="167335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89136" y="3538728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F825C"/>
                </a:solidFill>
                <a:latin typeface="Aptos"/>
              </a:rPr>
              <a:t>LIMITE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89136" y="3849624"/>
            <a:ext cx="225856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60" b="0">
                <a:solidFill>
                  <a:srgbClr val="F5F8FA"/>
                </a:solidFill>
                <a:latin typeface="Aptos"/>
              </a:rPr>
              <a:t>O tempo precisa ser explicitado por lags e variáveis derivadas.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" y="5824728"/>
            <a:ext cx="10908792" cy="530352"/>
          </a:xfrm>
          <a:prstGeom prst="roundRect">
            <a:avLst/>
          </a:prstGeom>
          <a:solidFill>
            <a:srgbClr val="0D2232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" y="5824728"/>
            <a:ext cx="73152" cy="530352"/>
          </a:xfrm>
          <a:prstGeom prst="rect">
            <a:avLst/>
          </a:prstGeom>
          <a:solidFill>
            <a:srgbClr val="FF825C"/>
          </a:solidFill>
          <a:ln w="10160">
            <a:solidFill>
              <a:srgbClr val="FF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0392" y="5934456"/>
            <a:ext cx="5212080" cy="256032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r>
              <a:rPr sz="1200" b="1">
                <a:solidFill>
                  <a:srgbClr val="F5F8FA"/>
                </a:solidFill>
                <a:latin typeface="Aptos"/>
              </a:rPr>
              <a:t>MAE 14.57 W/m²</a:t>
            </a:r>
            <a:r>
              <a:rPr sz="1200" b="0">
                <a:solidFill>
                  <a:srgbClr val="A9BAC5"/>
                </a:solidFill>
                <a:latin typeface="Aptos"/>
              </a:rPr>
              <a:t>   ·   RMSE 17.93 W/m²</a:t>
            </a:r>
            <a:r>
              <a:rPr sz="1200" b="1">
                <a:solidFill>
                  <a:srgbClr val="FF825C"/>
                </a:solidFill>
                <a:latin typeface="Aptos"/>
              </a:rPr>
              <a:t>   ·   6º no ranking geral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35040" y="5916168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A9BAC5"/>
                </a:solidFill>
                <a:latin typeface="Aptos"/>
              </a:rPr>
              <a:t>Desempenho intermediário no teste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" y="6547104"/>
            <a:ext cx="6217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58092"/>
                </a:solidFill>
                <a:latin typeface="Aptos"/>
              </a:rPr>
              <a:t>TCC · PREVISÃO MENSAL DE GHI · 10 LOCALIDADES · TESTE EM 2024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01200" y="6547104"/>
            <a:ext cx="19476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58092"/>
                </a:solidFill>
                <a:latin typeface="Aptos"/>
              </a:rPr>
              <a:t>XGBOOST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5A7FF"/>
                </a:solidFill>
                <a:latin typeface="Aptos"/>
              </a:rPr>
              <a:t>MODELO TABULAR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76072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MLP: camadas densas para relações não lineares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9BAC5"/>
                </a:solidFill>
                <a:latin typeface="Aptos"/>
              </a:rPr>
              <a:t>Uma rede feedforward transforma os mesmos atributos tabulares em GHI mensal.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6517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9BAC5"/>
                </a:solidFill>
                <a:latin typeface="Aptos"/>
              </a:rP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435608"/>
            <a:ext cx="10908792" cy="0"/>
          </a:xfrm>
          <a:prstGeom prst="line">
            <a:avLst/>
          </a:prstGeom>
          <a:ln w="1016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700784"/>
            <a:ext cx="2880360" cy="149047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65376"/>
            <a:ext cx="2478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5A7FF"/>
                </a:solidFill>
                <a:latin typeface="Aptos"/>
              </a:rPr>
              <a:t>ARQUITETURA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76272"/>
            <a:ext cx="2478024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0">
                <a:solidFill>
                  <a:srgbClr val="F5F8FA"/>
                </a:solidFill>
                <a:latin typeface="Aptos"/>
              </a:rPr>
              <a:t>Duas camadas ocultas: 64 e 32 neurônios, ativação ReLU.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74136"/>
            <a:ext cx="2880360" cy="167335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538728"/>
            <a:ext cx="2478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5A7FF"/>
                </a:solidFill>
                <a:latin typeface="Aptos"/>
              </a:rPr>
              <a:t>REGULARIZAÇÃO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849624"/>
            <a:ext cx="247802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0">
                <a:solidFill>
                  <a:srgbClr val="F5F8FA"/>
                </a:solidFill>
                <a:latin typeface="Aptos"/>
              </a:rPr>
              <a:t>StandardScaler + penalização L2 (α = 0,05) e otimizador L-BFGS.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67328" y="1700784"/>
            <a:ext cx="4892040" cy="3346704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51960" y="2212848"/>
            <a:ext cx="164592" cy="164592"/>
          </a:xfrm>
          <a:prstGeom prst="ellipse">
            <a:avLst/>
          </a:prstGeom>
          <a:solidFill>
            <a:srgbClr val="A9BAC5"/>
          </a:solidFill>
          <a:ln w="10160">
            <a:solidFill>
              <a:srgbClr val="A9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51960" y="2756915"/>
            <a:ext cx="164592" cy="164592"/>
          </a:xfrm>
          <a:prstGeom prst="ellipse">
            <a:avLst/>
          </a:prstGeom>
          <a:solidFill>
            <a:srgbClr val="A9BAC5"/>
          </a:solidFill>
          <a:ln w="10160">
            <a:solidFill>
              <a:srgbClr val="A9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51960" y="3300984"/>
            <a:ext cx="164592" cy="164592"/>
          </a:xfrm>
          <a:prstGeom prst="ellipse">
            <a:avLst/>
          </a:prstGeom>
          <a:solidFill>
            <a:srgbClr val="A9BAC5"/>
          </a:solidFill>
          <a:ln w="10160">
            <a:solidFill>
              <a:srgbClr val="A9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51960" y="3845052"/>
            <a:ext cx="164592" cy="164592"/>
          </a:xfrm>
          <a:prstGeom prst="ellipse">
            <a:avLst/>
          </a:prstGeom>
          <a:solidFill>
            <a:srgbClr val="A9BAC5"/>
          </a:solidFill>
          <a:ln w="10160">
            <a:solidFill>
              <a:srgbClr val="A9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51960" y="4389120"/>
            <a:ext cx="164592" cy="164592"/>
          </a:xfrm>
          <a:prstGeom prst="ellipse">
            <a:avLst/>
          </a:prstGeom>
          <a:solidFill>
            <a:srgbClr val="A9BAC5"/>
          </a:solidFill>
          <a:ln w="10160">
            <a:solidFill>
              <a:srgbClr val="A9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76672" y="2212848"/>
            <a:ext cx="164592" cy="164592"/>
          </a:xfrm>
          <a:prstGeom prst="ellipse">
            <a:avLst/>
          </a:prstGeom>
          <a:solidFill>
            <a:srgbClr val="55A7FF"/>
          </a:solidFill>
          <a:ln w="1016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76672" y="2575560"/>
            <a:ext cx="164592" cy="164592"/>
          </a:xfrm>
          <a:prstGeom prst="ellipse">
            <a:avLst/>
          </a:prstGeom>
          <a:solidFill>
            <a:srgbClr val="55A7FF"/>
          </a:solidFill>
          <a:ln w="1016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76672" y="2938272"/>
            <a:ext cx="164592" cy="164592"/>
          </a:xfrm>
          <a:prstGeom prst="ellipse">
            <a:avLst/>
          </a:prstGeom>
          <a:solidFill>
            <a:srgbClr val="55A7FF"/>
          </a:solidFill>
          <a:ln w="1016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76672" y="3300984"/>
            <a:ext cx="164592" cy="164592"/>
          </a:xfrm>
          <a:prstGeom prst="ellipse">
            <a:avLst/>
          </a:prstGeom>
          <a:solidFill>
            <a:srgbClr val="55A7FF"/>
          </a:solidFill>
          <a:ln w="1016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76672" y="3663696"/>
            <a:ext cx="164592" cy="164592"/>
          </a:xfrm>
          <a:prstGeom prst="ellipse">
            <a:avLst/>
          </a:prstGeom>
          <a:solidFill>
            <a:srgbClr val="55A7FF"/>
          </a:solidFill>
          <a:ln w="1016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76672" y="4026408"/>
            <a:ext cx="164592" cy="164592"/>
          </a:xfrm>
          <a:prstGeom prst="ellipse">
            <a:avLst/>
          </a:prstGeom>
          <a:solidFill>
            <a:srgbClr val="55A7FF"/>
          </a:solidFill>
          <a:ln w="1016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76672" y="4389120"/>
            <a:ext cx="164592" cy="164592"/>
          </a:xfrm>
          <a:prstGeom prst="ellipse">
            <a:avLst/>
          </a:prstGeom>
          <a:solidFill>
            <a:srgbClr val="55A7FF"/>
          </a:solidFill>
          <a:ln w="1016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83680" y="2212848"/>
            <a:ext cx="164592" cy="164592"/>
          </a:xfrm>
          <a:prstGeom prst="ellipse">
            <a:avLst/>
          </a:prstGeom>
          <a:solidFill>
            <a:srgbClr val="2DD4BF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0" y="2756915"/>
            <a:ext cx="164592" cy="164592"/>
          </a:xfrm>
          <a:prstGeom prst="ellipse">
            <a:avLst/>
          </a:prstGeom>
          <a:solidFill>
            <a:srgbClr val="2DD4BF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0" y="3300984"/>
            <a:ext cx="164592" cy="164592"/>
          </a:xfrm>
          <a:prstGeom prst="ellipse">
            <a:avLst/>
          </a:prstGeom>
          <a:solidFill>
            <a:srgbClr val="2DD4BF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83680" y="3845052"/>
            <a:ext cx="164592" cy="164592"/>
          </a:xfrm>
          <a:prstGeom prst="ellipse">
            <a:avLst/>
          </a:prstGeom>
          <a:solidFill>
            <a:srgbClr val="2DD4BF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83680" y="4389120"/>
            <a:ext cx="164592" cy="164592"/>
          </a:xfrm>
          <a:prstGeom prst="ellipse">
            <a:avLst/>
          </a:prstGeom>
          <a:solidFill>
            <a:srgbClr val="2DD4BF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818120" y="2212848"/>
            <a:ext cx="164592" cy="164592"/>
          </a:xfrm>
          <a:prstGeom prst="ellipse">
            <a:avLst/>
          </a:prstGeom>
          <a:solidFill>
            <a:srgbClr val="C5F55A"/>
          </a:solidFill>
          <a:ln w="10160">
            <a:solidFill>
              <a:srgbClr val="C5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4416552" y="2295144"/>
            <a:ext cx="960120" cy="0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416552" y="2295144"/>
            <a:ext cx="960120" cy="362711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416552" y="2295144"/>
            <a:ext cx="960120" cy="725424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416552" y="2295144"/>
            <a:ext cx="960120" cy="1088135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416552" y="2295144"/>
            <a:ext cx="960120" cy="1450848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416552" y="2295144"/>
            <a:ext cx="960120" cy="1813560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416552" y="2295144"/>
            <a:ext cx="960120" cy="2176272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416552" y="2295144"/>
            <a:ext cx="960120" cy="544067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416552" y="2657855"/>
            <a:ext cx="960120" cy="181356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416552" y="2839211"/>
            <a:ext cx="960120" cy="181357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416552" y="2839211"/>
            <a:ext cx="960120" cy="544068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416552" y="2839211"/>
            <a:ext cx="960120" cy="906781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16552" y="2839211"/>
            <a:ext cx="960120" cy="1269493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16552" y="2839211"/>
            <a:ext cx="960120" cy="1632205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416552" y="2295144"/>
            <a:ext cx="960120" cy="1088135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416552" y="2657855"/>
            <a:ext cx="960120" cy="725424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416552" y="3020568"/>
            <a:ext cx="960120" cy="362711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416552" y="3383279"/>
            <a:ext cx="960120" cy="0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416552" y="3383279"/>
            <a:ext cx="960120" cy="362713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416552" y="3383279"/>
            <a:ext cx="960120" cy="725425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416552" y="3383279"/>
            <a:ext cx="960120" cy="1088137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416552" y="2295144"/>
            <a:ext cx="960120" cy="1632204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416552" y="2657855"/>
            <a:ext cx="960120" cy="1269493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416552" y="3020568"/>
            <a:ext cx="960120" cy="906780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416552" y="3383279"/>
            <a:ext cx="960120" cy="544069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416552" y="3745992"/>
            <a:ext cx="960120" cy="181356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416552" y="3927348"/>
            <a:ext cx="960120" cy="181356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416552" y="3927348"/>
            <a:ext cx="960120" cy="544068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416552" y="2295144"/>
            <a:ext cx="960120" cy="2176272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416552" y="2657855"/>
            <a:ext cx="960120" cy="1813561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416552" y="3020568"/>
            <a:ext cx="960120" cy="1450848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416552" y="3383279"/>
            <a:ext cx="960120" cy="1088137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416552" y="3745992"/>
            <a:ext cx="960120" cy="725424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416552" y="4108704"/>
            <a:ext cx="960120" cy="362712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416552" y="4471416"/>
            <a:ext cx="960120" cy="0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541264" y="2295144"/>
            <a:ext cx="1042416" cy="0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541264" y="2295144"/>
            <a:ext cx="1042416" cy="544067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541264" y="2295144"/>
            <a:ext cx="1042416" cy="1088135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541264" y="2295144"/>
            <a:ext cx="1042416" cy="1632204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541264" y="2295144"/>
            <a:ext cx="1042416" cy="2176272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5541264" y="2295144"/>
            <a:ext cx="1042416" cy="362711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541264" y="2657855"/>
            <a:ext cx="1042416" cy="181356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541264" y="2657855"/>
            <a:ext cx="1042416" cy="725424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541264" y="2657855"/>
            <a:ext cx="1042416" cy="1269493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541264" y="2657855"/>
            <a:ext cx="1042416" cy="1813561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5541264" y="2295144"/>
            <a:ext cx="1042416" cy="725424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541264" y="2839211"/>
            <a:ext cx="1042416" cy="181357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5541264" y="3020568"/>
            <a:ext cx="1042416" cy="362711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541264" y="3020568"/>
            <a:ext cx="1042416" cy="906780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5541264" y="3020568"/>
            <a:ext cx="1042416" cy="1450848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5541264" y="2295144"/>
            <a:ext cx="1042416" cy="1088135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5541264" y="2839211"/>
            <a:ext cx="1042416" cy="544068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541264" y="3383279"/>
            <a:ext cx="1042416" cy="0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541264" y="3383279"/>
            <a:ext cx="1042416" cy="544069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541264" y="3383279"/>
            <a:ext cx="1042416" cy="1088137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541264" y="2295144"/>
            <a:ext cx="1042416" cy="1450848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5541264" y="2839211"/>
            <a:ext cx="1042416" cy="906781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5541264" y="3383279"/>
            <a:ext cx="1042416" cy="362713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541264" y="3745992"/>
            <a:ext cx="1042416" cy="181356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541264" y="3745992"/>
            <a:ext cx="1042416" cy="725424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5541264" y="2295144"/>
            <a:ext cx="1042416" cy="1813560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5541264" y="2839211"/>
            <a:ext cx="1042416" cy="1269493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5541264" y="3383279"/>
            <a:ext cx="1042416" cy="725425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5541264" y="3927348"/>
            <a:ext cx="1042416" cy="181356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5541264" y="4108704"/>
            <a:ext cx="1042416" cy="362712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5541264" y="2295144"/>
            <a:ext cx="1042416" cy="2176272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5541264" y="2839211"/>
            <a:ext cx="1042416" cy="1632205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5541264" y="3383279"/>
            <a:ext cx="1042416" cy="1088137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541264" y="3927348"/>
            <a:ext cx="1042416" cy="544068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5541264" y="4471416"/>
            <a:ext cx="1042416" cy="0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748272" y="2295144"/>
            <a:ext cx="1069848" cy="0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748272" y="2295144"/>
            <a:ext cx="1069848" cy="544067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748272" y="2295144"/>
            <a:ext cx="1069848" cy="1088135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6748272" y="2295144"/>
            <a:ext cx="1069848" cy="1632204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6748272" y="2295144"/>
            <a:ext cx="1069848" cy="2176272"/>
          </a:xfrm>
          <a:prstGeom prst="line">
            <a:avLst/>
          </a:prstGeom>
          <a:ln w="5715">
            <a:solidFill>
              <a:srgbClr val="31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4005072" y="45994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A9BAC5"/>
                </a:solidFill>
                <a:latin typeface="Aptos"/>
              </a:rPr>
              <a:t>atributos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184648" y="45994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A9BAC5"/>
                </a:solidFill>
                <a:latin typeface="Aptos"/>
              </a:rPr>
              <a:t>64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37376" y="45994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A9BAC5"/>
                </a:solidFill>
                <a:latin typeface="Aptos"/>
              </a:rPr>
              <a:t>32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671816" y="45994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A9BAC5"/>
                </a:solidFill>
                <a:latin typeface="Aptos"/>
              </a:rPr>
              <a:t>saída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887968" y="1700784"/>
            <a:ext cx="2660904" cy="149047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089136" y="1865376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5A7FF"/>
                </a:solidFill>
                <a:latin typeface="Aptos"/>
              </a:rPr>
              <a:t>PONTO FORTE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089136" y="2176272"/>
            <a:ext cx="2258568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0">
                <a:solidFill>
                  <a:srgbClr val="F5F8FA"/>
                </a:solidFill>
                <a:latin typeface="Aptos"/>
              </a:rPr>
              <a:t>Flexível para interações suaves e complexas.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887968" y="3374136"/>
            <a:ext cx="2660904" cy="167335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089136" y="3538728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5A7FF"/>
                </a:solidFill>
                <a:latin typeface="Aptos"/>
              </a:rPr>
              <a:t>LIMITE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089136" y="3849624"/>
            <a:ext cx="225856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40" b="0">
                <a:solidFill>
                  <a:srgbClr val="F5F8FA"/>
                </a:solidFill>
                <a:latin typeface="Aptos"/>
              </a:rPr>
              <a:t>Base pequena aumenta a sensibilidade à escala e à regularização.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40080" y="5824728"/>
            <a:ext cx="10908792" cy="530352"/>
          </a:xfrm>
          <a:prstGeom prst="roundRect">
            <a:avLst/>
          </a:prstGeom>
          <a:solidFill>
            <a:srgbClr val="0D2232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40080" y="5824728"/>
            <a:ext cx="73152" cy="530352"/>
          </a:xfrm>
          <a:prstGeom prst="rect">
            <a:avLst/>
          </a:prstGeom>
          <a:solidFill>
            <a:srgbClr val="55A7FF"/>
          </a:solidFill>
          <a:ln w="1016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50392" y="5934456"/>
            <a:ext cx="5212080" cy="256032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r>
              <a:rPr sz="1200" b="1">
                <a:solidFill>
                  <a:srgbClr val="F5F8FA"/>
                </a:solidFill>
                <a:latin typeface="Aptos"/>
              </a:rPr>
              <a:t>MAE 16.06 W/m²</a:t>
            </a:r>
            <a:r>
              <a:rPr sz="1200" b="0">
                <a:solidFill>
                  <a:srgbClr val="A9BAC5"/>
                </a:solidFill>
                <a:latin typeface="Aptos"/>
              </a:rPr>
              <a:t>   ·   RMSE 19.77 W/m²</a:t>
            </a:r>
            <a:r>
              <a:rPr sz="1200" b="1">
                <a:solidFill>
                  <a:srgbClr val="55A7FF"/>
                </a:solidFill>
                <a:latin typeface="Aptos"/>
              </a:rPr>
              <a:t>   ·   7º no ranking geral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35040" y="5916168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A9BAC5"/>
                </a:solidFill>
                <a:latin typeface="Aptos"/>
              </a:rPr>
              <a:t>Ficou abaixo dos modelos recorrentes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40080" y="6547104"/>
            <a:ext cx="6217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58092"/>
                </a:solidFill>
                <a:latin typeface="Aptos"/>
              </a:rPr>
              <a:t>TCC · PREVISÃO MENSAL DE GHI · 10 LOCALIDADES · TESTE EM 2024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601200" y="6547104"/>
            <a:ext cx="19476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58092"/>
                </a:solidFill>
                <a:latin typeface="Aptos"/>
              </a:rPr>
              <a:t>MLP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MODELO RECORRENTE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76072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RNN: o estado oculto carrega o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9BAC5"/>
                </a:solidFill>
                <a:latin typeface="Aptos"/>
              </a:rPr>
              <a:t>A ordem dos 12 meses entra diretamente na arquitetura, passo a passo.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6517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9BAC5"/>
                </a:solidFill>
                <a:latin typeface="Aptos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435608"/>
            <a:ext cx="10908792" cy="0"/>
          </a:xfrm>
          <a:prstGeom prst="line">
            <a:avLst/>
          </a:prstGeom>
          <a:ln w="1016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700784"/>
            <a:ext cx="2880360" cy="149047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65376"/>
            <a:ext cx="2478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DD4BF"/>
                </a:solidFill>
                <a:latin typeface="Aptos"/>
              </a:rPr>
              <a:t>MEMÓRIA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76272"/>
            <a:ext cx="2478024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0">
                <a:solidFill>
                  <a:srgbClr val="F5F8FA"/>
                </a:solidFill>
                <a:latin typeface="Aptos"/>
              </a:rPr>
              <a:t>Estado oculto de 16 unidades resume o histórico mais recente.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74136"/>
            <a:ext cx="2880360" cy="167335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538728"/>
            <a:ext cx="2478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DD4BF"/>
                </a:solidFill>
                <a:latin typeface="Aptos"/>
              </a:rPr>
              <a:t>FUSÃO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849624"/>
            <a:ext cx="247802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0">
                <a:solidFill>
                  <a:srgbClr val="F5F8FA"/>
                </a:solidFill>
                <a:latin typeface="Aptos"/>
              </a:rPr>
              <a:t>Calendário e localidade entram em um ramo auxiliar, após a recorrência.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67328" y="1700784"/>
            <a:ext cx="4892040" cy="3346704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60520" y="2880360"/>
            <a:ext cx="621792" cy="566928"/>
          </a:xfrm>
          <a:prstGeom prst="roundRect">
            <a:avLst/>
          </a:prstGeom>
          <a:solidFill>
            <a:srgbClr val="0D2232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305409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F5F8FA"/>
                </a:solidFill>
                <a:latin typeface="Aptos"/>
              </a:rPr>
              <a:t>RNN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1104" y="2404872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DD4BF"/>
                </a:solidFill>
                <a:latin typeface="Aptos"/>
              </a:rPr>
              <a:t>xₜ₋4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71416" y="2633472"/>
            <a:ext cx="0" cy="246888"/>
          </a:xfrm>
          <a:prstGeom prst="line">
            <a:avLst/>
          </a:prstGeom>
          <a:ln w="1397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782312" y="3163824"/>
            <a:ext cx="292608" cy="0"/>
          </a:xfrm>
          <a:prstGeom prst="line">
            <a:avLst/>
          </a:prstGeom>
          <a:ln w="2159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74920" y="2880360"/>
            <a:ext cx="621792" cy="566928"/>
          </a:xfrm>
          <a:prstGeom prst="roundRect">
            <a:avLst/>
          </a:prstGeom>
          <a:solidFill>
            <a:srgbClr val="0D2232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305409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F5F8FA"/>
                </a:solidFill>
                <a:latin typeface="Aptos"/>
              </a:rPr>
              <a:t>RNN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2404872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DD4BF"/>
                </a:solidFill>
                <a:latin typeface="Aptos"/>
              </a:rPr>
              <a:t>xₜ₋3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85816" y="2633472"/>
            <a:ext cx="0" cy="246888"/>
          </a:xfrm>
          <a:prstGeom prst="line">
            <a:avLst/>
          </a:prstGeom>
          <a:ln w="1397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696712" y="3163824"/>
            <a:ext cx="292608" cy="0"/>
          </a:xfrm>
          <a:prstGeom prst="line">
            <a:avLst/>
          </a:prstGeom>
          <a:ln w="2159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89320" y="2880360"/>
            <a:ext cx="621792" cy="566928"/>
          </a:xfrm>
          <a:prstGeom prst="roundRect">
            <a:avLst/>
          </a:prstGeom>
          <a:solidFill>
            <a:srgbClr val="0D2232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305409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F5F8FA"/>
                </a:solidFill>
                <a:latin typeface="Aptos"/>
              </a:rPr>
              <a:t>RNN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9904" y="2404872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DD4BF"/>
                </a:solidFill>
                <a:latin typeface="Aptos"/>
              </a:rPr>
              <a:t>xₜ₋2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300216" y="2633472"/>
            <a:ext cx="0" cy="246888"/>
          </a:xfrm>
          <a:prstGeom prst="line">
            <a:avLst/>
          </a:prstGeom>
          <a:ln w="1397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611112" y="3163824"/>
            <a:ext cx="292608" cy="0"/>
          </a:xfrm>
          <a:prstGeom prst="line">
            <a:avLst/>
          </a:prstGeom>
          <a:ln w="2159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903720" y="2880360"/>
            <a:ext cx="621792" cy="566928"/>
          </a:xfrm>
          <a:prstGeom prst="roundRect">
            <a:avLst/>
          </a:prstGeom>
          <a:solidFill>
            <a:srgbClr val="0D2232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305409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F5F8FA"/>
                </a:solidFill>
                <a:latin typeface="Aptos"/>
              </a:rPr>
              <a:t>RNN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4304" y="2404872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DD4BF"/>
                </a:solidFill>
                <a:latin typeface="Aptos"/>
              </a:rPr>
              <a:t>xₜ₋1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214616" y="2633472"/>
            <a:ext cx="0" cy="246888"/>
          </a:xfrm>
          <a:prstGeom prst="line">
            <a:avLst/>
          </a:prstGeom>
          <a:ln w="1397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525512" y="3163824"/>
            <a:ext cx="292608" cy="0"/>
          </a:xfrm>
          <a:prstGeom prst="line">
            <a:avLst/>
          </a:prstGeom>
          <a:ln w="2159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818120" y="2880360"/>
            <a:ext cx="621792" cy="566928"/>
          </a:xfrm>
          <a:prstGeom prst="roundRect">
            <a:avLst/>
          </a:prstGeom>
          <a:solidFill>
            <a:srgbClr val="0D2232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18120" y="305409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F5F8FA"/>
                </a:solidFill>
                <a:latin typeface="Aptos"/>
              </a:rPr>
              <a:t>RNN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8704" y="2404872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DD4BF"/>
                </a:solidFill>
                <a:latin typeface="Aptos"/>
              </a:rPr>
              <a:t>xₜ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129016" y="2633472"/>
            <a:ext cx="0" cy="246888"/>
          </a:xfrm>
          <a:prstGeom prst="line">
            <a:avLst/>
          </a:prstGeom>
          <a:ln w="1397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129016" y="3447288"/>
            <a:ext cx="0" cy="393192"/>
          </a:xfrm>
          <a:prstGeom prst="line">
            <a:avLst/>
          </a:prstGeom>
          <a:ln w="21590">
            <a:solidFill>
              <a:srgbClr val="C5F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772400" y="3840480"/>
            <a:ext cx="713232" cy="384048"/>
          </a:xfrm>
          <a:prstGeom prst="roundRect">
            <a:avLst/>
          </a:prstGeom>
          <a:solidFill>
            <a:srgbClr val="C5F55A"/>
          </a:solidFill>
          <a:ln w="10160">
            <a:solidFill>
              <a:srgbClr val="C5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0" y="3941063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724"/>
                </a:solidFill>
                <a:latin typeface="Aptos"/>
              </a:rPr>
              <a:t>ŷₜ₊₁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36592" y="449884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A9BAC5"/>
                </a:solidFill>
                <a:latin typeface="Aptos"/>
              </a:rPr>
              <a:t>hₜ = tanh(Wₓxₜ + Wₕhₜ₋₁ + b)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87968" y="1700784"/>
            <a:ext cx="2660904" cy="149047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89136" y="1865376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DD4BF"/>
                </a:solidFill>
                <a:latin typeface="Aptos"/>
              </a:rPr>
              <a:t>PONTO FORTE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89136" y="2176272"/>
            <a:ext cx="2258568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60" b="0">
                <a:solidFill>
                  <a:srgbClr val="F5F8FA"/>
                </a:solidFill>
                <a:latin typeface="Aptos"/>
              </a:rPr>
              <a:t>Representa naturalmente ordem e dependências locais.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87968" y="3374136"/>
            <a:ext cx="2660904" cy="167335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89136" y="3538728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DD4BF"/>
                </a:solidFill>
                <a:latin typeface="Aptos"/>
              </a:rPr>
              <a:t>LIMITE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89136" y="3849624"/>
            <a:ext cx="225856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60" b="0">
                <a:solidFill>
                  <a:srgbClr val="F5F8FA"/>
                </a:solidFill>
                <a:latin typeface="Aptos"/>
              </a:rPr>
              <a:t>Sinais distantes podem enfraquecer durante o treinamento.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5824728"/>
            <a:ext cx="10908792" cy="530352"/>
          </a:xfrm>
          <a:prstGeom prst="roundRect">
            <a:avLst/>
          </a:prstGeom>
          <a:solidFill>
            <a:srgbClr val="0D2232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" y="5824728"/>
            <a:ext cx="73152" cy="530352"/>
          </a:xfrm>
          <a:prstGeom prst="rect">
            <a:avLst/>
          </a:prstGeom>
          <a:solidFill>
            <a:srgbClr val="2DD4BF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0392" y="5934456"/>
            <a:ext cx="5212080" cy="256032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r>
              <a:rPr sz="1200" b="1">
                <a:solidFill>
                  <a:srgbClr val="F5F8FA"/>
                </a:solidFill>
                <a:latin typeface="Aptos"/>
              </a:rPr>
              <a:t>MAE 12.55 W/m²</a:t>
            </a:r>
            <a:r>
              <a:rPr sz="1200" b="0">
                <a:solidFill>
                  <a:srgbClr val="A9BAC5"/>
                </a:solidFill>
                <a:latin typeface="Aptos"/>
              </a:rPr>
              <a:t>   ·   RMSE 15.59 W/m²</a:t>
            </a:r>
            <a:r>
              <a:rPr sz="1200" b="1">
                <a:solidFill>
                  <a:srgbClr val="2DD4BF"/>
                </a:solidFill>
                <a:latin typeface="Aptos"/>
              </a:rPr>
              <a:t>   ·   3º no ranking geral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5916168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A9BAC5"/>
                </a:solidFill>
                <a:latin typeface="Aptos"/>
              </a:rPr>
              <a:t>2º melhor modelo aprendido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6547104"/>
            <a:ext cx="6217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58092"/>
                </a:solidFill>
                <a:latin typeface="Aptos"/>
              </a:rPr>
              <a:t>TCC · PREVISÃO MENSAL DE GHI · 10 LOCALIDADES · TESTE EM 2024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6547104"/>
            <a:ext cx="19476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58092"/>
                </a:solidFill>
                <a:latin typeface="Aptos"/>
              </a:rPr>
              <a:t>RNN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5F55A"/>
                </a:solidFill>
                <a:latin typeface="Aptos"/>
              </a:rPr>
              <a:t>MODELO RECORRENTE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76072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LSTM: memória seletiva para dependências longas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9BAC5"/>
                </a:solidFill>
                <a:latin typeface="Aptos"/>
              </a:rPr>
              <a:t>Portas aprendem o que esquecer, adicionar e expor em cada mês.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6517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9BAC5"/>
                </a:solidFill>
                <a:latin typeface="Aptos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435608"/>
            <a:ext cx="10908792" cy="0"/>
          </a:xfrm>
          <a:prstGeom prst="line">
            <a:avLst/>
          </a:prstGeom>
          <a:ln w="1016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700784"/>
            <a:ext cx="2880360" cy="149047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65376"/>
            <a:ext cx="2478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5F55A"/>
                </a:solidFill>
                <a:latin typeface="Aptos"/>
              </a:rPr>
              <a:t>ARQUITETURA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76272"/>
            <a:ext cx="2478024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0">
                <a:solidFill>
                  <a:srgbClr val="F5F8FA"/>
                </a:solidFill>
                <a:latin typeface="Aptos"/>
              </a:rPr>
              <a:t>16 unidades LSTM + fusão das covariáveis + camada densa.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74136"/>
            <a:ext cx="2880360" cy="167335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538728"/>
            <a:ext cx="2478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5F55A"/>
                </a:solidFill>
                <a:latin typeface="Aptos"/>
              </a:rPr>
              <a:t>VALIDAÇÃO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849624"/>
            <a:ext cx="247802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0">
                <a:solidFill>
                  <a:srgbClr val="F5F8FA"/>
                </a:solidFill>
                <a:latin typeface="Aptos"/>
              </a:rPr>
              <a:t>Épocas selecionadas temporalmente; depois, reajuste em todo o pré-teste.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67328" y="1700784"/>
            <a:ext cx="4892040" cy="3346704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224528" y="2395728"/>
            <a:ext cx="3986784" cy="0"/>
          </a:xfrm>
          <a:prstGeom prst="line">
            <a:avLst/>
          </a:prstGeom>
          <a:ln w="27940">
            <a:solidFill>
              <a:srgbClr val="C5F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61104" y="2057400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5F55A"/>
                </a:solidFill>
                <a:latin typeface="Aptos"/>
              </a:rPr>
              <a:t>estado da célula cₜ</a:t>
            </a:r>
          </a:p>
        </p:txBody>
      </p:sp>
      <p:sp>
        <p:nvSpPr>
          <p:cNvPr id="16" name="Oval 15"/>
          <p:cNvSpPr/>
          <p:nvPr/>
        </p:nvSpPr>
        <p:spPr>
          <a:xfrm>
            <a:off x="4617720" y="2834640"/>
            <a:ext cx="493776" cy="493776"/>
          </a:xfrm>
          <a:prstGeom prst="ellipse">
            <a:avLst/>
          </a:prstGeom>
          <a:solidFill>
            <a:srgbClr val="0D2232"/>
          </a:solidFill>
          <a:ln w="10160">
            <a:solidFill>
              <a:srgbClr val="FF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96265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825C"/>
                </a:solidFill>
                <a:latin typeface="Aptos"/>
              </a:rPr>
              <a:t>×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64608" y="2395728"/>
            <a:ext cx="0" cy="438912"/>
          </a:xfrm>
          <a:prstGeom prst="line">
            <a:avLst/>
          </a:prstGeom>
          <a:ln w="15875">
            <a:solidFill>
              <a:srgbClr val="FF8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71416" y="3511296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F825C"/>
                </a:solidFill>
                <a:latin typeface="Aptos"/>
              </a:rPr>
              <a:t>ESQUECER</a:t>
            </a:r>
          </a:p>
        </p:txBody>
      </p:sp>
      <p:sp>
        <p:nvSpPr>
          <p:cNvPr id="20" name="Oval 19"/>
          <p:cNvSpPr/>
          <p:nvPr/>
        </p:nvSpPr>
        <p:spPr>
          <a:xfrm>
            <a:off x="5897880" y="2834640"/>
            <a:ext cx="493776" cy="493776"/>
          </a:xfrm>
          <a:prstGeom prst="ellipse">
            <a:avLst/>
          </a:prstGeom>
          <a:solidFill>
            <a:srgbClr val="0D2232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296265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DD4BF"/>
                </a:solidFill>
                <a:latin typeface="Aptos"/>
              </a:rPr>
              <a:t>+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44768" y="2395728"/>
            <a:ext cx="0" cy="438912"/>
          </a:xfrm>
          <a:prstGeom prst="line">
            <a:avLst/>
          </a:prstGeom>
          <a:ln w="15875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751576" y="3511296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2DD4BF"/>
                </a:solidFill>
                <a:latin typeface="Aptos"/>
              </a:rPr>
              <a:t>ADICIONAR</a:t>
            </a:r>
          </a:p>
        </p:txBody>
      </p:sp>
      <p:sp>
        <p:nvSpPr>
          <p:cNvPr id="24" name="Oval 23"/>
          <p:cNvSpPr/>
          <p:nvPr/>
        </p:nvSpPr>
        <p:spPr>
          <a:xfrm>
            <a:off x="7178040" y="2834640"/>
            <a:ext cx="493776" cy="493776"/>
          </a:xfrm>
          <a:prstGeom prst="ellipse">
            <a:avLst/>
          </a:prstGeom>
          <a:solidFill>
            <a:srgbClr val="0D2232"/>
          </a:solidFill>
          <a:ln w="10160">
            <a:solidFill>
              <a:srgbClr val="8B7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296265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8B7CF6"/>
                </a:solidFill>
                <a:latin typeface="Aptos"/>
              </a:rPr>
              <a:t>σ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24927" y="2395728"/>
            <a:ext cx="0" cy="438912"/>
          </a:xfrm>
          <a:prstGeom prst="line">
            <a:avLst/>
          </a:prstGeom>
          <a:ln w="15875">
            <a:solidFill>
              <a:srgbClr val="8B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031736" y="3511296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8B7CF6"/>
                </a:solidFill>
                <a:latin typeface="Aptos"/>
              </a:rPr>
              <a:t>EXPOR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87568" y="4096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A9BAC5"/>
                </a:solidFill>
                <a:latin typeface="Aptos"/>
              </a:rPr>
              <a:t>xₜ + hₜ₋₁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6236208" y="3328416"/>
            <a:ext cx="0" cy="603504"/>
          </a:xfrm>
          <a:prstGeom prst="line">
            <a:avLst/>
          </a:prstGeom>
          <a:ln w="12700">
            <a:solidFill>
              <a:srgbClr val="A9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887968" y="1700784"/>
            <a:ext cx="2660904" cy="149047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89136" y="1865376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5F55A"/>
                </a:solidFill>
                <a:latin typeface="Aptos"/>
              </a:rPr>
              <a:t>PONTO FORTE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2176272"/>
            <a:ext cx="2258568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60" b="0">
                <a:solidFill>
                  <a:srgbClr val="F5F8FA"/>
                </a:solidFill>
                <a:latin typeface="Aptos"/>
              </a:rPr>
              <a:t>Preserva sinais relevantes por horizontes maiores.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87968" y="3374136"/>
            <a:ext cx="2660904" cy="167335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89136" y="3538728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5F55A"/>
                </a:solidFill>
                <a:latin typeface="Aptos"/>
              </a:rPr>
              <a:t>LIMITE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89136" y="3849624"/>
            <a:ext cx="225856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60" b="0">
                <a:solidFill>
                  <a:srgbClr val="F5F8FA"/>
                </a:solidFill>
                <a:latin typeface="Aptos"/>
              </a:rPr>
              <a:t>Mais parâmetros e treinamento mais cuidadoso.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824728"/>
            <a:ext cx="10908792" cy="530352"/>
          </a:xfrm>
          <a:prstGeom prst="roundRect">
            <a:avLst/>
          </a:prstGeom>
          <a:solidFill>
            <a:srgbClr val="0D2232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5824728"/>
            <a:ext cx="73152" cy="530352"/>
          </a:xfrm>
          <a:prstGeom prst="rect">
            <a:avLst/>
          </a:prstGeom>
          <a:solidFill>
            <a:srgbClr val="C5F55A"/>
          </a:solidFill>
          <a:ln w="10160">
            <a:solidFill>
              <a:srgbClr val="C5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5934456"/>
            <a:ext cx="5212080" cy="256032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r>
              <a:rPr sz="1200" b="1">
                <a:solidFill>
                  <a:srgbClr val="F5F8FA"/>
                </a:solidFill>
                <a:latin typeface="Aptos"/>
              </a:rPr>
              <a:t>MAE 12.22 W/m²</a:t>
            </a:r>
            <a:r>
              <a:rPr sz="1200" b="0">
                <a:solidFill>
                  <a:srgbClr val="A9BAC5"/>
                </a:solidFill>
                <a:latin typeface="Aptos"/>
              </a:rPr>
              <a:t>   ·   RMSE 15.06 W/m²</a:t>
            </a:r>
            <a:r>
              <a:rPr sz="1200" b="1">
                <a:solidFill>
                  <a:srgbClr val="C5F55A"/>
                </a:solidFill>
                <a:latin typeface="Aptos"/>
              </a:rPr>
              <a:t>   ·   2º no ranking geral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5916168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A9BAC5"/>
                </a:solidFill>
                <a:latin typeface="Aptos"/>
              </a:rPr>
              <a:t>Melhor modelo aprendido; quase empatou com a climatologia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547104"/>
            <a:ext cx="6217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58092"/>
                </a:solidFill>
                <a:latin typeface="Aptos"/>
              </a:rPr>
              <a:t>TCC · PREVISÃO MENSAL DE GHI · 10 LOCALIDADES · TESTE EM 2024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6547104"/>
            <a:ext cx="19476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58092"/>
                </a:solidFill>
                <a:latin typeface="Aptos"/>
              </a:rPr>
              <a:t>LSTM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8B7CF6"/>
                </a:solidFill>
                <a:latin typeface="Aptos"/>
              </a:rPr>
              <a:t>MODELO RECORRENTE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76072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DilatedRNN: conexões que saltam no tempo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9BAC5"/>
                </a:solidFill>
                <a:latin typeface="Aptos"/>
              </a:rPr>
              <a:t>Dilatações 1, 2 e 4 constroem uma hierarquia temporal multiescala.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6517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9BAC5"/>
                </a:solidFill>
                <a:latin typeface="Aptos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435608"/>
            <a:ext cx="10908792" cy="0"/>
          </a:xfrm>
          <a:prstGeom prst="line">
            <a:avLst/>
          </a:prstGeom>
          <a:ln w="1016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700784"/>
            <a:ext cx="2880360" cy="149047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65376"/>
            <a:ext cx="2478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8B7CF6"/>
                </a:solidFill>
                <a:latin typeface="Aptos"/>
              </a:rPr>
              <a:t>ESTRUTURA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76272"/>
            <a:ext cx="2478024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0">
                <a:solidFill>
                  <a:srgbClr val="F5F8FA"/>
                </a:solidFill>
                <a:latin typeface="Aptos"/>
              </a:rPr>
              <a:t>Três camadas recorrentes com saltos s = 1, 2 e 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74136"/>
            <a:ext cx="2880360" cy="167335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538728"/>
            <a:ext cx="2478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8B7CF6"/>
                </a:solidFill>
                <a:latin typeface="Aptos"/>
              </a:rPr>
              <a:t>INTUIÇÃO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849624"/>
            <a:ext cx="247802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0">
                <a:solidFill>
                  <a:srgbClr val="F5F8FA"/>
                </a:solidFill>
                <a:latin typeface="Aptos"/>
              </a:rPr>
              <a:t>Capturar variações adjacentes e ritmos mais amplos sem aumentar a janela.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67328" y="1700784"/>
            <a:ext cx="4892040" cy="3346704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60520" y="4224528"/>
            <a:ext cx="118872" cy="118872"/>
          </a:xfrm>
          <a:prstGeom prst="ellipse">
            <a:avLst/>
          </a:prstGeom>
          <a:solidFill>
            <a:srgbClr val="0D2232"/>
          </a:solidFill>
          <a:ln w="10160">
            <a:solidFill>
              <a:srgbClr val="8B7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33087" y="4489704"/>
            <a:ext cx="182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A9BAC5"/>
                </a:solidFill>
                <a:latin typeface="Aptos"/>
              </a:rPr>
              <a:t>0</a:t>
            </a:r>
          </a:p>
        </p:txBody>
      </p:sp>
      <p:sp>
        <p:nvSpPr>
          <p:cNvPr id="16" name="Oval 15"/>
          <p:cNvSpPr/>
          <p:nvPr/>
        </p:nvSpPr>
        <p:spPr>
          <a:xfrm>
            <a:off x="4507992" y="4224528"/>
            <a:ext cx="118872" cy="118872"/>
          </a:xfrm>
          <a:prstGeom prst="ellipse">
            <a:avLst/>
          </a:prstGeom>
          <a:solidFill>
            <a:srgbClr val="0D2232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4489704"/>
            <a:ext cx="182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A9BAC5"/>
                </a:solidFill>
                <a:latin typeface="Aptos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4855464" y="4224528"/>
            <a:ext cx="118872" cy="118872"/>
          </a:xfrm>
          <a:prstGeom prst="ellipse">
            <a:avLst/>
          </a:prstGeom>
          <a:solidFill>
            <a:srgbClr val="0D2232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28031" y="4489704"/>
            <a:ext cx="182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A9BAC5"/>
                </a:solidFill>
                <a:latin typeface="Aptos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5202936" y="4224528"/>
            <a:ext cx="118872" cy="118872"/>
          </a:xfrm>
          <a:prstGeom prst="ellipse">
            <a:avLst/>
          </a:prstGeom>
          <a:solidFill>
            <a:srgbClr val="0D2232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75503" y="4489704"/>
            <a:ext cx="182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A9BAC5"/>
                </a:solidFill>
                <a:latin typeface="Aptos"/>
              </a:rPr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5550408" y="4224528"/>
            <a:ext cx="118872" cy="118872"/>
          </a:xfrm>
          <a:prstGeom prst="ellipse">
            <a:avLst/>
          </a:prstGeom>
          <a:solidFill>
            <a:srgbClr val="0D2232"/>
          </a:solidFill>
          <a:ln w="10160">
            <a:solidFill>
              <a:srgbClr val="8B7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22976" y="4489704"/>
            <a:ext cx="182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A9BAC5"/>
                </a:solidFill>
                <a:latin typeface="Aptos"/>
              </a:rPr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5897879" y="4224528"/>
            <a:ext cx="118872" cy="118872"/>
          </a:xfrm>
          <a:prstGeom prst="ellipse">
            <a:avLst/>
          </a:prstGeom>
          <a:solidFill>
            <a:srgbClr val="0D2232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70447" y="4489704"/>
            <a:ext cx="182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A9BAC5"/>
                </a:solidFill>
                <a:latin typeface="Aptos"/>
              </a:rPr>
              <a:t>5</a:t>
            </a:r>
          </a:p>
        </p:txBody>
      </p:sp>
      <p:sp>
        <p:nvSpPr>
          <p:cNvPr id="26" name="Oval 25"/>
          <p:cNvSpPr/>
          <p:nvPr/>
        </p:nvSpPr>
        <p:spPr>
          <a:xfrm>
            <a:off x="6245352" y="4224528"/>
            <a:ext cx="118872" cy="118872"/>
          </a:xfrm>
          <a:prstGeom prst="ellipse">
            <a:avLst/>
          </a:prstGeom>
          <a:solidFill>
            <a:srgbClr val="0D2232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4489704"/>
            <a:ext cx="182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A9BAC5"/>
                </a:solidFill>
                <a:latin typeface="Aptos"/>
              </a:rPr>
              <a:t>6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4224528"/>
            <a:ext cx="118872" cy="118872"/>
          </a:xfrm>
          <a:prstGeom prst="ellipse">
            <a:avLst/>
          </a:prstGeom>
          <a:solidFill>
            <a:srgbClr val="0D2232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4489704"/>
            <a:ext cx="182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A9BAC5"/>
                </a:solidFill>
                <a:latin typeface="Aptos"/>
              </a:rPr>
              <a:t>7</a:t>
            </a:r>
          </a:p>
        </p:txBody>
      </p:sp>
      <p:sp>
        <p:nvSpPr>
          <p:cNvPr id="30" name="Oval 29"/>
          <p:cNvSpPr/>
          <p:nvPr/>
        </p:nvSpPr>
        <p:spPr>
          <a:xfrm>
            <a:off x="6940296" y="4224528"/>
            <a:ext cx="118872" cy="118872"/>
          </a:xfrm>
          <a:prstGeom prst="ellipse">
            <a:avLst/>
          </a:prstGeom>
          <a:solidFill>
            <a:srgbClr val="0D2232"/>
          </a:solidFill>
          <a:ln w="10160">
            <a:solidFill>
              <a:srgbClr val="8B7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12864" y="4489704"/>
            <a:ext cx="182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A9BAC5"/>
                </a:solidFill>
                <a:latin typeface="Aptos"/>
              </a:rPr>
              <a:t>8</a:t>
            </a:r>
          </a:p>
        </p:txBody>
      </p:sp>
      <p:sp>
        <p:nvSpPr>
          <p:cNvPr id="32" name="Oval 31"/>
          <p:cNvSpPr/>
          <p:nvPr/>
        </p:nvSpPr>
        <p:spPr>
          <a:xfrm>
            <a:off x="7287768" y="4224528"/>
            <a:ext cx="118872" cy="118872"/>
          </a:xfrm>
          <a:prstGeom prst="ellipse">
            <a:avLst/>
          </a:prstGeom>
          <a:solidFill>
            <a:srgbClr val="0D2232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0336" y="4489704"/>
            <a:ext cx="182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A9BAC5"/>
                </a:solidFill>
                <a:latin typeface="Aptos"/>
              </a:rPr>
              <a:t>9</a:t>
            </a:r>
          </a:p>
        </p:txBody>
      </p:sp>
      <p:sp>
        <p:nvSpPr>
          <p:cNvPr id="34" name="Oval 33"/>
          <p:cNvSpPr/>
          <p:nvPr/>
        </p:nvSpPr>
        <p:spPr>
          <a:xfrm>
            <a:off x="7635240" y="4224528"/>
            <a:ext cx="118872" cy="118872"/>
          </a:xfrm>
          <a:prstGeom prst="ellipse">
            <a:avLst/>
          </a:prstGeom>
          <a:solidFill>
            <a:srgbClr val="0D2232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07808" y="4489704"/>
            <a:ext cx="182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A9BAC5"/>
                </a:solidFill>
                <a:latin typeface="Aptos"/>
              </a:rPr>
              <a:t>10</a:t>
            </a:r>
          </a:p>
        </p:txBody>
      </p:sp>
      <p:sp>
        <p:nvSpPr>
          <p:cNvPr id="36" name="Oval 35"/>
          <p:cNvSpPr/>
          <p:nvPr/>
        </p:nvSpPr>
        <p:spPr>
          <a:xfrm>
            <a:off x="7982712" y="4224528"/>
            <a:ext cx="118872" cy="118872"/>
          </a:xfrm>
          <a:prstGeom prst="ellipse">
            <a:avLst/>
          </a:prstGeom>
          <a:solidFill>
            <a:srgbClr val="0D2232"/>
          </a:solidFill>
          <a:ln w="10160">
            <a:solidFill>
              <a:srgbClr val="8B7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0" y="4489704"/>
            <a:ext cx="182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A9BAC5"/>
                </a:solidFill>
                <a:latin typeface="Aptos"/>
              </a:rPr>
              <a:t>11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78224" y="3474720"/>
            <a:ext cx="749808" cy="292608"/>
          </a:xfrm>
          <a:prstGeom prst="roundRect">
            <a:avLst/>
          </a:prstGeom>
          <a:solidFill>
            <a:srgbClr val="0D2232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33087" y="3493008"/>
            <a:ext cx="6400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2DD4BF"/>
                </a:solidFill>
                <a:latin typeface="Aptos"/>
              </a:rPr>
              <a:t>S = 1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219956" y="3730752"/>
            <a:ext cx="347472" cy="0"/>
          </a:xfrm>
          <a:prstGeom prst="line">
            <a:avLst/>
          </a:prstGeom>
          <a:ln w="1778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219956" y="3730752"/>
            <a:ext cx="0" cy="493776"/>
          </a:xfrm>
          <a:prstGeom prst="line">
            <a:avLst/>
          </a:prstGeom>
          <a:ln w="5715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567428" y="3730752"/>
            <a:ext cx="0" cy="493776"/>
          </a:xfrm>
          <a:prstGeom prst="line">
            <a:avLst/>
          </a:prstGeom>
          <a:ln w="5715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67428" y="3730752"/>
            <a:ext cx="347472" cy="0"/>
          </a:xfrm>
          <a:prstGeom prst="line">
            <a:avLst/>
          </a:prstGeom>
          <a:ln w="1778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67428" y="3730752"/>
            <a:ext cx="0" cy="493776"/>
          </a:xfrm>
          <a:prstGeom prst="line">
            <a:avLst/>
          </a:prstGeom>
          <a:ln w="5715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14900" y="3730752"/>
            <a:ext cx="0" cy="493776"/>
          </a:xfrm>
          <a:prstGeom prst="line">
            <a:avLst/>
          </a:prstGeom>
          <a:ln w="5715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914900" y="3730752"/>
            <a:ext cx="347472" cy="0"/>
          </a:xfrm>
          <a:prstGeom prst="line">
            <a:avLst/>
          </a:prstGeom>
          <a:ln w="1778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914900" y="3730752"/>
            <a:ext cx="0" cy="493776"/>
          </a:xfrm>
          <a:prstGeom prst="line">
            <a:avLst/>
          </a:prstGeom>
          <a:ln w="5715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262372" y="3730752"/>
            <a:ext cx="0" cy="493776"/>
          </a:xfrm>
          <a:prstGeom prst="line">
            <a:avLst/>
          </a:prstGeom>
          <a:ln w="5715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262372" y="3730752"/>
            <a:ext cx="347472" cy="0"/>
          </a:xfrm>
          <a:prstGeom prst="line">
            <a:avLst/>
          </a:prstGeom>
          <a:ln w="1778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262372" y="3730752"/>
            <a:ext cx="0" cy="493776"/>
          </a:xfrm>
          <a:prstGeom prst="line">
            <a:avLst/>
          </a:prstGeom>
          <a:ln w="5715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609844" y="3730752"/>
            <a:ext cx="0" cy="493776"/>
          </a:xfrm>
          <a:prstGeom prst="line">
            <a:avLst/>
          </a:prstGeom>
          <a:ln w="5715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609844" y="3730752"/>
            <a:ext cx="347472" cy="0"/>
          </a:xfrm>
          <a:prstGeom prst="line">
            <a:avLst/>
          </a:prstGeom>
          <a:ln w="1778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609844" y="3730752"/>
            <a:ext cx="0" cy="493776"/>
          </a:xfrm>
          <a:prstGeom prst="line">
            <a:avLst/>
          </a:prstGeom>
          <a:ln w="5715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957316" y="3730752"/>
            <a:ext cx="0" cy="493776"/>
          </a:xfrm>
          <a:prstGeom prst="line">
            <a:avLst/>
          </a:prstGeom>
          <a:ln w="5715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957316" y="3730752"/>
            <a:ext cx="347472" cy="0"/>
          </a:xfrm>
          <a:prstGeom prst="line">
            <a:avLst/>
          </a:prstGeom>
          <a:ln w="1778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957316" y="3730752"/>
            <a:ext cx="0" cy="493776"/>
          </a:xfrm>
          <a:prstGeom prst="line">
            <a:avLst/>
          </a:prstGeom>
          <a:ln w="5715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304788" y="3730752"/>
            <a:ext cx="0" cy="493776"/>
          </a:xfrm>
          <a:prstGeom prst="line">
            <a:avLst/>
          </a:prstGeom>
          <a:ln w="5715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304788" y="3730752"/>
            <a:ext cx="347472" cy="0"/>
          </a:xfrm>
          <a:prstGeom prst="line">
            <a:avLst/>
          </a:prstGeom>
          <a:ln w="1778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304788" y="3730752"/>
            <a:ext cx="0" cy="493776"/>
          </a:xfrm>
          <a:prstGeom prst="line">
            <a:avLst/>
          </a:prstGeom>
          <a:ln w="5715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652260" y="3730752"/>
            <a:ext cx="0" cy="493776"/>
          </a:xfrm>
          <a:prstGeom prst="line">
            <a:avLst/>
          </a:prstGeom>
          <a:ln w="5715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652260" y="3730752"/>
            <a:ext cx="347472" cy="0"/>
          </a:xfrm>
          <a:prstGeom prst="line">
            <a:avLst/>
          </a:prstGeom>
          <a:ln w="1778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652260" y="3730752"/>
            <a:ext cx="0" cy="493776"/>
          </a:xfrm>
          <a:prstGeom prst="line">
            <a:avLst/>
          </a:prstGeom>
          <a:ln w="5715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999732" y="3730752"/>
            <a:ext cx="0" cy="493776"/>
          </a:xfrm>
          <a:prstGeom prst="line">
            <a:avLst/>
          </a:prstGeom>
          <a:ln w="5715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999732" y="3730752"/>
            <a:ext cx="347472" cy="0"/>
          </a:xfrm>
          <a:prstGeom prst="line">
            <a:avLst/>
          </a:prstGeom>
          <a:ln w="1778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999732" y="3730752"/>
            <a:ext cx="0" cy="493776"/>
          </a:xfrm>
          <a:prstGeom prst="line">
            <a:avLst/>
          </a:prstGeom>
          <a:ln w="5715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347204" y="3730752"/>
            <a:ext cx="0" cy="493776"/>
          </a:xfrm>
          <a:prstGeom prst="line">
            <a:avLst/>
          </a:prstGeom>
          <a:ln w="5715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347204" y="3730752"/>
            <a:ext cx="347471" cy="0"/>
          </a:xfrm>
          <a:prstGeom prst="line">
            <a:avLst/>
          </a:prstGeom>
          <a:ln w="1778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347204" y="3730752"/>
            <a:ext cx="0" cy="493776"/>
          </a:xfrm>
          <a:prstGeom prst="line">
            <a:avLst/>
          </a:prstGeom>
          <a:ln w="5715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694675" y="3730752"/>
            <a:ext cx="0" cy="493776"/>
          </a:xfrm>
          <a:prstGeom prst="line">
            <a:avLst/>
          </a:prstGeom>
          <a:ln w="5715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694675" y="3730752"/>
            <a:ext cx="347473" cy="0"/>
          </a:xfrm>
          <a:prstGeom prst="line">
            <a:avLst/>
          </a:prstGeom>
          <a:ln w="1778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694675" y="3730752"/>
            <a:ext cx="0" cy="493776"/>
          </a:xfrm>
          <a:prstGeom prst="line">
            <a:avLst/>
          </a:prstGeom>
          <a:ln w="5715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042148" y="3730752"/>
            <a:ext cx="0" cy="493776"/>
          </a:xfrm>
          <a:prstGeom prst="line">
            <a:avLst/>
          </a:prstGeom>
          <a:ln w="5715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4078224" y="2871215"/>
            <a:ext cx="749808" cy="292608"/>
          </a:xfrm>
          <a:prstGeom prst="roundRect">
            <a:avLst/>
          </a:prstGeom>
          <a:solidFill>
            <a:srgbClr val="0D2232"/>
          </a:solidFill>
          <a:ln w="10160">
            <a:solidFill>
              <a:srgbClr val="FF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33087" y="2889503"/>
            <a:ext cx="6400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FF825C"/>
                </a:solidFill>
                <a:latin typeface="Aptos"/>
              </a:rPr>
              <a:t>S = 2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4219956" y="3127248"/>
            <a:ext cx="694944" cy="0"/>
          </a:xfrm>
          <a:prstGeom prst="line">
            <a:avLst/>
          </a:prstGeom>
          <a:ln w="17780">
            <a:solidFill>
              <a:srgbClr val="FF8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219956" y="3127248"/>
            <a:ext cx="0" cy="1097280"/>
          </a:xfrm>
          <a:prstGeom prst="line">
            <a:avLst/>
          </a:prstGeom>
          <a:ln w="5715">
            <a:solidFill>
              <a:srgbClr val="FF8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914900" y="3127248"/>
            <a:ext cx="0" cy="1097280"/>
          </a:xfrm>
          <a:prstGeom prst="line">
            <a:avLst/>
          </a:prstGeom>
          <a:ln w="5715">
            <a:solidFill>
              <a:srgbClr val="FF8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914900" y="3127248"/>
            <a:ext cx="694944" cy="0"/>
          </a:xfrm>
          <a:prstGeom prst="line">
            <a:avLst/>
          </a:prstGeom>
          <a:ln w="17780">
            <a:solidFill>
              <a:srgbClr val="FF8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914900" y="3127248"/>
            <a:ext cx="0" cy="1097280"/>
          </a:xfrm>
          <a:prstGeom prst="line">
            <a:avLst/>
          </a:prstGeom>
          <a:ln w="5715">
            <a:solidFill>
              <a:srgbClr val="FF8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609844" y="3127248"/>
            <a:ext cx="0" cy="1097280"/>
          </a:xfrm>
          <a:prstGeom prst="line">
            <a:avLst/>
          </a:prstGeom>
          <a:ln w="5715">
            <a:solidFill>
              <a:srgbClr val="FF8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5609844" y="3127248"/>
            <a:ext cx="694944" cy="0"/>
          </a:xfrm>
          <a:prstGeom prst="line">
            <a:avLst/>
          </a:prstGeom>
          <a:ln w="17780">
            <a:solidFill>
              <a:srgbClr val="FF8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609844" y="3127248"/>
            <a:ext cx="0" cy="1097280"/>
          </a:xfrm>
          <a:prstGeom prst="line">
            <a:avLst/>
          </a:prstGeom>
          <a:ln w="5715">
            <a:solidFill>
              <a:srgbClr val="FF8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304788" y="3127248"/>
            <a:ext cx="0" cy="1097280"/>
          </a:xfrm>
          <a:prstGeom prst="line">
            <a:avLst/>
          </a:prstGeom>
          <a:ln w="5715">
            <a:solidFill>
              <a:srgbClr val="FF8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304788" y="3127248"/>
            <a:ext cx="694944" cy="0"/>
          </a:xfrm>
          <a:prstGeom prst="line">
            <a:avLst/>
          </a:prstGeom>
          <a:ln w="17780">
            <a:solidFill>
              <a:srgbClr val="FF8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6304788" y="3127248"/>
            <a:ext cx="0" cy="1097280"/>
          </a:xfrm>
          <a:prstGeom prst="line">
            <a:avLst/>
          </a:prstGeom>
          <a:ln w="5715">
            <a:solidFill>
              <a:srgbClr val="FF8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999732" y="3127248"/>
            <a:ext cx="0" cy="1097280"/>
          </a:xfrm>
          <a:prstGeom prst="line">
            <a:avLst/>
          </a:prstGeom>
          <a:ln w="5715">
            <a:solidFill>
              <a:srgbClr val="FF8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999732" y="3127248"/>
            <a:ext cx="694943" cy="0"/>
          </a:xfrm>
          <a:prstGeom prst="line">
            <a:avLst/>
          </a:prstGeom>
          <a:ln w="17780">
            <a:solidFill>
              <a:srgbClr val="FF8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999732" y="3127248"/>
            <a:ext cx="0" cy="1097280"/>
          </a:xfrm>
          <a:prstGeom prst="line">
            <a:avLst/>
          </a:prstGeom>
          <a:ln w="5715">
            <a:solidFill>
              <a:srgbClr val="FF8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694675" y="3127248"/>
            <a:ext cx="0" cy="1097280"/>
          </a:xfrm>
          <a:prstGeom prst="line">
            <a:avLst/>
          </a:prstGeom>
          <a:ln w="5715">
            <a:solidFill>
              <a:srgbClr val="FF8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4078224" y="2139696"/>
            <a:ext cx="749808" cy="292608"/>
          </a:xfrm>
          <a:prstGeom prst="roundRect">
            <a:avLst/>
          </a:prstGeom>
          <a:solidFill>
            <a:srgbClr val="0D2232"/>
          </a:solidFill>
          <a:ln w="10160">
            <a:solidFill>
              <a:srgbClr val="8B7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33087" y="2157984"/>
            <a:ext cx="6400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8B7CF6"/>
                </a:solidFill>
                <a:latin typeface="Aptos"/>
              </a:rPr>
              <a:t>S = 4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4219956" y="2395728"/>
            <a:ext cx="1389888" cy="0"/>
          </a:xfrm>
          <a:prstGeom prst="line">
            <a:avLst/>
          </a:prstGeom>
          <a:ln w="17780">
            <a:solidFill>
              <a:srgbClr val="8B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219956" y="2395728"/>
            <a:ext cx="0" cy="1828800"/>
          </a:xfrm>
          <a:prstGeom prst="line">
            <a:avLst/>
          </a:prstGeom>
          <a:ln w="5715">
            <a:solidFill>
              <a:srgbClr val="8B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609844" y="2395728"/>
            <a:ext cx="0" cy="1828800"/>
          </a:xfrm>
          <a:prstGeom prst="line">
            <a:avLst/>
          </a:prstGeom>
          <a:ln w="5715">
            <a:solidFill>
              <a:srgbClr val="8B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609844" y="2395728"/>
            <a:ext cx="1389888" cy="0"/>
          </a:xfrm>
          <a:prstGeom prst="line">
            <a:avLst/>
          </a:prstGeom>
          <a:ln w="17780">
            <a:solidFill>
              <a:srgbClr val="8B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5609844" y="2395728"/>
            <a:ext cx="0" cy="1828800"/>
          </a:xfrm>
          <a:prstGeom prst="line">
            <a:avLst/>
          </a:prstGeom>
          <a:ln w="5715">
            <a:solidFill>
              <a:srgbClr val="8B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6999732" y="2395728"/>
            <a:ext cx="0" cy="1828800"/>
          </a:xfrm>
          <a:prstGeom prst="line">
            <a:avLst/>
          </a:prstGeom>
          <a:ln w="5715">
            <a:solidFill>
              <a:srgbClr val="8B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8887968" y="1700784"/>
            <a:ext cx="2660904" cy="149047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089136" y="1865376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8B7CF6"/>
                </a:solidFill>
                <a:latin typeface="Aptos"/>
              </a:rPr>
              <a:t>PONTO FORTE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089136" y="2176272"/>
            <a:ext cx="2258568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60" b="0">
                <a:solidFill>
                  <a:srgbClr val="F5F8FA"/>
                </a:solidFill>
                <a:latin typeface="Aptos"/>
              </a:rPr>
              <a:t>Acessa padrões em escalas temporais diferentes.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887968" y="3374136"/>
            <a:ext cx="2660904" cy="167335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089136" y="3538728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8B7CF6"/>
                </a:solidFill>
                <a:latin typeface="Aptos"/>
              </a:rPr>
              <a:t>LIMITE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89136" y="3849624"/>
            <a:ext cx="225856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40" b="0">
                <a:solidFill>
                  <a:srgbClr val="F5F8FA"/>
                </a:solidFill>
                <a:latin typeface="Aptos"/>
              </a:rPr>
              <a:t>O desenho das dilatações precisa combinar com o fenômeno.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40080" y="5824728"/>
            <a:ext cx="10908792" cy="530352"/>
          </a:xfrm>
          <a:prstGeom prst="roundRect">
            <a:avLst/>
          </a:prstGeom>
          <a:solidFill>
            <a:srgbClr val="0D2232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40080" y="5824728"/>
            <a:ext cx="73152" cy="530352"/>
          </a:xfrm>
          <a:prstGeom prst="rect">
            <a:avLst/>
          </a:prstGeom>
          <a:solidFill>
            <a:srgbClr val="8B7CF6"/>
          </a:solidFill>
          <a:ln w="10160">
            <a:solidFill>
              <a:srgbClr val="8B7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50392" y="5934456"/>
            <a:ext cx="5212080" cy="256032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r>
              <a:rPr sz="1200" b="1">
                <a:solidFill>
                  <a:srgbClr val="F5F8FA"/>
                </a:solidFill>
                <a:latin typeface="Aptos"/>
              </a:rPr>
              <a:t>MAE 13.42 W/m²</a:t>
            </a:r>
            <a:r>
              <a:rPr sz="1200" b="0">
                <a:solidFill>
                  <a:srgbClr val="A9BAC5"/>
                </a:solidFill>
                <a:latin typeface="Aptos"/>
              </a:rPr>
              <a:t>   ·   RMSE 16.20 W/m²</a:t>
            </a:r>
            <a:r>
              <a:rPr sz="1200" b="1">
                <a:solidFill>
                  <a:srgbClr val="8B7CF6"/>
                </a:solidFill>
                <a:latin typeface="Aptos"/>
              </a:rPr>
              <a:t>   ·   4º no ranking geral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035040" y="5916168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A9BAC5"/>
                </a:solidFill>
                <a:latin typeface="Aptos"/>
              </a:rPr>
              <a:t>Bom desempenho, mas abaixo de RNN e LSTM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" y="6547104"/>
            <a:ext cx="6217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58092"/>
                </a:solidFill>
                <a:latin typeface="Aptos"/>
              </a:rPr>
              <a:t>TCC · PREVISÃO MENSAL DE GHI · 10 LOCALIDADES · TESTE EM 2024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601200" y="6547104"/>
            <a:ext cx="19476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58092"/>
                </a:solidFill>
                <a:latin typeface="Aptos"/>
              </a:rPr>
              <a:t>DILATEDRNN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46AA5"/>
                </a:solidFill>
                <a:latin typeface="Aptos"/>
              </a:rPr>
              <a:t>MODELO PROBABILÍSTICO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76072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DeepAR: uma distribuição de futuros possíveis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9BAC5"/>
                </a:solidFill>
                <a:latin typeface="Aptos"/>
              </a:rPr>
              <a:t>Uma rede autoregressiva global aprende padrões compartilhados entre as dez séries.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6517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9BAC5"/>
                </a:solidFill>
                <a:latin typeface="Aptos"/>
              </a:rP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435608"/>
            <a:ext cx="10908792" cy="0"/>
          </a:xfrm>
          <a:prstGeom prst="line">
            <a:avLst/>
          </a:prstGeom>
          <a:ln w="1016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700784"/>
            <a:ext cx="2880360" cy="149047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65376"/>
            <a:ext cx="2478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46AA5"/>
                </a:solidFill>
                <a:latin typeface="Aptos"/>
              </a:rPr>
              <a:t>CONFIGURAÇÃO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76272"/>
            <a:ext cx="2478024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0">
                <a:solidFill>
                  <a:srgbClr val="F5F8FA"/>
                </a:solidFill>
                <a:latin typeface="Aptos"/>
              </a:rPr>
              <a:t>Contexto de 12 meses, 2 camadas, 40 unidades e 100 épocas.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74136"/>
            <a:ext cx="2880360" cy="167335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538728"/>
            <a:ext cx="2478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46AA5"/>
                </a:solidFill>
                <a:latin typeface="Aptos"/>
              </a:rPr>
              <a:t>SAÍDA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849624"/>
            <a:ext cx="247802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40" b="0">
                <a:solidFill>
                  <a:srgbClr val="F5F8FA"/>
                </a:solidFill>
                <a:latin typeface="Aptos"/>
              </a:rPr>
              <a:t>500 amostras por semente; 2.500 na mistura final. A mediana gera a previsão pontual.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67328" y="1700784"/>
            <a:ext cx="4892040" cy="3346704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114800" y="2240280"/>
            <a:ext cx="310896" cy="128016"/>
          </a:xfrm>
          <a:prstGeom prst="line">
            <a:avLst/>
          </a:prstGeom>
          <a:ln w="13970">
            <a:solidFill>
              <a:srgbClr val="55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425696" y="2304288"/>
            <a:ext cx="310896" cy="64008"/>
          </a:xfrm>
          <a:prstGeom prst="line">
            <a:avLst/>
          </a:prstGeom>
          <a:ln w="13970">
            <a:solidFill>
              <a:srgbClr val="55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736592" y="2240280"/>
            <a:ext cx="310896" cy="64008"/>
          </a:xfrm>
          <a:prstGeom prst="line">
            <a:avLst/>
          </a:prstGeom>
          <a:ln w="13970">
            <a:solidFill>
              <a:srgbClr val="55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47488" y="2240280"/>
            <a:ext cx="310896" cy="128016"/>
          </a:xfrm>
          <a:prstGeom prst="line">
            <a:avLst/>
          </a:prstGeom>
          <a:ln w="13970">
            <a:solidFill>
              <a:srgbClr val="55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358384" y="2304288"/>
            <a:ext cx="310896" cy="64008"/>
          </a:xfrm>
          <a:prstGeom prst="line">
            <a:avLst/>
          </a:prstGeom>
          <a:ln w="13970">
            <a:solidFill>
              <a:srgbClr val="55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669280" y="2240280"/>
            <a:ext cx="310896" cy="64008"/>
          </a:xfrm>
          <a:prstGeom prst="line">
            <a:avLst/>
          </a:prstGeom>
          <a:ln w="13970">
            <a:solidFill>
              <a:srgbClr val="55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114800" y="2715768"/>
            <a:ext cx="310896" cy="0"/>
          </a:xfrm>
          <a:prstGeom prst="line">
            <a:avLst/>
          </a:prstGeom>
          <a:ln w="1397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425696" y="2715768"/>
            <a:ext cx="310896" cy="0"/>
          </a:xfrm>
          <a:prstGeom prst="line">
            <a:avLst/>
          </a:prstGeom>
          <a:ln w="1397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36592" y="2715768"/>
            <a:ext cx="310896" cy="0"/>
          </a:xfrm>
          <a:prstGeom prst="line">
            <a:avLst/>
          </a:prstGeom>
          <a:ln w="1397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7488" y="2715768"/>
            <a:ext cx="310896" cy="0"/>
          </a:xfrm>
          <a:prstGeom prst="line">
            <a:avLst/>
          </a:prstGeom>
          <a:ln w="1397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58384" y="2715768"/>
            <a:ext cx="310896" cy="0"/>
          </a:xfrm>
          <a:prstGeom prst="line">
            <a:avLst/>
          </a:prstGeom>
          <a:ln w="1397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669280" y="2715768"/>
            <a:ext cx="310896" cy="0"/>
          </a:xfrm>
          <a:prstGeom prst="line">
            <a:avLst/>
          </a:prstGeom>
          <a:ln w="1397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114800" y="3191256"/>
            <a:ext cx="310896" cy="64008"/>
          </a:xfrm>
          <a:prstGeom prst="line">
            <a:avLst/>
          </a:prstGeom>
          <a:ln w="13970">
            <a:solidFill>
              <a:srgbClr val="8B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425696" y="3255264"/>
            <a:ext cx="310896" cy="64008"/>
          </a:xfrm>
          <a:prstGeom prst="line">
            <a:avLst/>
          </a:prstGeom>
          <a:ln w="13970">
            <a:solidFill>
              <a:srgbClr val="8B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736592" y="3191256"/>
            <a:ext cx="310896" cy="128016"/>
          </a:xfrm>
          <a:prstGeom prst="line">
            <a:avLst/>
          </a:prstGeom>
          <a:ln w="13970">
            <a:solidFill>
              <a:srgbClr val="8B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47488" y="3191256"/>
            <a:ext cx="310896" cy="64008"/>
          </a:xfrm>
          <a:prstGeom prst="line">
            <a:avLst/>
          </a:prstGeom>
          <a:ln w="13970">
            <a:solidFill>
              <a:srgbClr val="8B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58384" y="3255264"/>
            <a:ext cx="310896" cy="64008"/>
          </a:xfrm>
          <a:prstGeom prst="line">
            <a:avLst/>
          </a:prstGeom>
          <a:ln w="13970">
            <a:solidFill>
              <a:srgbClr val="8B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669280" y="3191256"/>
            <a:ext cx="310896" cy="128016"/>
          </a:xfrm>
          <a:prstGeom prst="line">
            <a:avLst/>
          </a:prstGeom>
          <a:ln w="13970">
            <a:solidFill>
              <a:srgbClr val="8B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114800" y="3666744"/>
            <a:ext cx="310896" cy="128015"/>
          </a:xfrm>
          <a:prstGeom prst="line">
            <a:avLst/>
          </a:prstGeom>
          <a:ln w="13970">
            <a:solidFill>
              <a:srgbClr val="FF8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425696" y="3730752"/>
            <a:ext cx="310896" cy="64007"/>
          </a:xfrm>
          <a:prstGeom prst="line">
            <a:avLst/>
          </a:prstGeom>
          <a:ln w="13970">
            <a:solidFill>
              <a:srgbClr val="FF8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736592" y="3666744"/>
            <a:ext cx="310896" cy="64008"/>
          </a:xfrm>
          <a:prstGeom prst="line">
            <a:avLst/>
          </a:prstGeom>
          <a:ln w="13970">
            <a:solidFill>
              <a:srgbClr val="FF8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047488" y="3666744"/>
            <a:ext cx="310896" cy="128015"/>
          </a:xfrm>
          <a:prstGeom prst="line">
            <a:avLst/>
          </a:prstGeom>
          <a:ln w="13970">
            <a:solidFill>
              <a:srgbClr val="FF8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358384" y="3730752"/>
            <a:ext cx="310896" cy="64007"/>
          </a:xfrm>
          <a:prstGeom prst="line">
            <a:avLst/>
          </a:prstGeom>
          <a:ln w="13970">
            <a:solidFill>
              <a:srgbClr val="FF8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669280" y="3666744"/>
            <a:ext cx="310896" cy="64008"/>
          </a:xfrm>
          <a:prstGeom prst="line">
            <a:avLst/>
          </a:prstGeom>
          <a:ln w="13970">
            <a:solidFill>
              <a:srgbClr val="FF8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6537960" y="2788920"/>
            <a:ext cx="640080" cy="640080"/>
          </a:xfrm>
          <a:prstGeom prst="ellipse">
            <a:avLst/>
          </a:prstGeom>
          <a:solidFill>
            <a:srgbClr val="0D2232"/>
          </a:solidFill>
          <a:ln w="10160">
            <a:solidFill>
              <a:srgbClr val="F46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2916936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5F8FA"/>
                </a:solidFill>
                <a:latin typeface="Aptos"/>
              </a:rPr>
              <a:t>RNN
global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172200" y="3108960"/>
            <a:ext cx="365760" cy="0"/>
          </a:xfrm>
          <a:prstGeom prst="line">
            <a:avLst/>
          </a:prstGeom>
          <a:ln w="22860">
            <a:solidFill>
              <a:srgbClr val="F46A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178040" y="3108960"/>
            <a:ext cx="365760" cy="0"/>
          </a:xfrm>
          <a:prstGeom prst="line">
            <a:avLst/>
          </a:prstGeom>
          <a:ln w="22860">
            <a:solidFill>
              <a:srgbClr val="F46A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543800" y="2514600"/>
            <a:ext cx="338327" cy="594360"/>
          </a:xfrm>
          <a:prstGeom prst="line">
            <a:avLst/>
          </a:prstGeom>
          <a:ln w="15240">
            <a:solidFill>
              <a:srgbClr val="8B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882127" y="2395728"/>
            <a:ext cx="502920" cy="256032"/>
          </a:xfrm>
          <a:prstGeom prst="roundRect">
            <a:avLst/>
          </a:prstGeom>
          <a:solidFill>
            <a:srgbClr val="8B7CF6"/>
          </a:solidFill>
          <a:ln w="10160">
            <a:solidFill>
              <a:srgbClr val="8B7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82127" y="2455164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071724"/>
                </a:solidFill>
                <a:latin typeface="Aptos"/>
              </a:rPr>
              <a:t>P10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543800" y="3108960"/>
            <a:ext cx="338327" cy="9143"/>
          </a:xfrm>
          <a:prstGeom prst="line">
            <a:avLst/>
          </a:prstGeom>
          <a:ln w="15240">
            <a:solidFill>
              <a:srgbClr val="F46A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882127" y="2999232"/>
            <a:ext cx="502920" cy="256032"/>
          </a:xfrm>
          <a:prstGeom prst="roundRect">
            <a:avLst/>
          </a:prstGeom>
          <a:solidFill>
            <a:srgbClr val="F46AA5"/>
          </a:solidFill>
          <a:ln w="10160">
            <a:solidFill>
              <a:srgbClr val="F46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82127" y="3058668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071724"/>
                </a:solidFill>
                <a:latin typeface="Aptos"/>
              </a:rPr>
              <a:t>P50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543800" y="3108960"/>
            <a:ext cx="338327" cy="612648"/>
          </a:xfrm>
          <a:prstGeom prst="line">
            <a:avLst/>
          </a:prstGeom>
          <a:ln w="15240">
            <a:solidFill>
              <a:srgbClr val="F7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7882127" y="3602736"/>
            <a:ext cx="502920" cy="256032"/>
          </a:xfrm>
          <a:prstGeom prst="roundRect">
            <a:avLst/>
          </a:prstGeom>
          <a:solidFill>
            <a:srgbClr val="F7C85B"/>
          </a:solidFill>
          <a:ln w="10160">
            <a:solidFill>
              <a:srgbClr val="F7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82127" y="3662172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071724"/>
                </a:solidFill>
                <a:latin typeface="Aptos"/>
              </a:rPr>
              <a:t>P90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87968" y="1700784"/>
            <a:ext cx="2660904" cy="149047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89136" y="1865376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46AA5"/>
                </a:solidFill>
                <a:latin typeface="Aptos"/>
              </a:rPr>
              <a:t>QUALIDADE PROBABILÍSTICA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89136" y="2176272"/>
            <a:ext cx="2258568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F5F8FA"/>
                </a:solidFill>
                <a:latin typeface="Aptos"/>
              </a:rPr>
              <a:t>CRPS 10.83 W/m²
Cobertura 90%: 61.67%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887968" y="3374136"/>
            <a:ext cx="2660904" cy="167335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89136" y="3538728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46AA5"/>
                </a:solidFill>
                <a:latin typeface="Aptos"/>
              </a:rPr>
              <a:t>LEITURA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89136" y="3849624"/>
            <a:ext cx="225856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40" b="0">
                <a:solidFill>
                  <a:srgbClr val="F5F8FA"/>
                </a:solidFill>
                <a:latin typeface="Aptos"/>
              </a:rPr>
              <a:t>Intervalos relativamente estreitos (35.50 W/m²), porém subcobertos.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5824728"/>
            <a:ext cx="10908792" cy="530352"/>
          </a:xfrm>
          <a:prstGeom prst="roundRect">
            <a:avLst/>
          </a:prstGeom>
          <a:solidFill>
            <a:srgbClr val="0D2232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0080" y="5824728"/>
            <a:ext cx="73152" cy="530352"/>
          </a:xfrm>
          <a:prstGeom prst="rect">
            <a:avLst/>
          </a:prstGeom>
          <a:solidFill>
            <a:srgbClr val="F46AA5"/>
          </a:solidFill>
          <a:ln w="10160">
            <a:solidFill>
              <a:srgbClr val="F46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0392" y="5934456"/>
            <a:ext cx="5212080" cy="256032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r>
              <a:rPr sz="1200" b="1">
                <a:solidFill>
                  <a:srgbClr val="F5F8FA"/>
                </a:solidFill>
                <a:latin typeface="Aptos"/>
              </a:rPr>
              <a:t>MAE 14.18 W/m²</a:t>
            </a:r>
            <a:r>
              <a:rPr sz="1200" b="0">
                <a:solidFill>
                  <a:srgbClr val="A9BAC5"/>
                </a:solidFill>
                <a:latin typeface="Aptos"/>
              </a:rPr>
              <a:t>   ·   RMSE 17.94 W/m²</a:t>
            </a:r>
            <a:r>
              <a:rPr sz="1200" b="1">
                <a:solidFill>
                  <a:srgbClr val="F46AA5"/>
                </a:solidFill>
                <a:latin typeface="Aptos"/>
              </a:rPr>
              <a:t>   ·   5º no ranking geral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35040" y="5916168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A9BAC5"/>
                </a:solidFill>
                <a:latin typeface="Aptos"/>
              </a:rPr>
              <a:t>Melhor qualidade probabilística entre os dois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6547104"/>
            <a:ext cx="6217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58092"/>
                </a:solidFill>
                <a:latin typeface="Aptos"/>
              </a:rPr>
              <a:t>TCC · PREVISÃO MENSAL DE GHI · 10 LOCALIDADES · TESTE EM 2024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0" y="6547104"/>
            <a:ext cx="19476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58092"/>
                </a:solidFill>
                <a:latin typeface="Aptos"/>
              </a:rPr>
              <a:t>DEEPAR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7C85B"/>
                </a:solidFill>
                <a:latin typeface="Aptos"/>
              </a:rPr>
              <a:t>MODELO PROBABILÍSTICO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76072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DeepNPTS: o histórico vira um conjunto de candidatos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9BAC5"/>
                </a:solidFill>
                <a:latin typeface="Aptos"/>
              </a:rPr>
              <a:t>O estimador discreto oficial atribui massa de probabilidade aos valores observados no contexto.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6517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9BAC5"/>
                </a:solidFill>
                <a:latin typeface="Aptos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435608"/>
            <a:ext cx="10908792" cy="0"/>
          </a:xfrm>
          <a:prstGeom prst="line">
            <a:avLst/>
          </a:prstGeom>
          <a:ln w="1016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700784"/>
            <a:ext cx="2880360" cy="149047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65376"/>
            <a:ext cx="2478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7C85B"/>
                </a:solidFill>
                <a:latin typeface="Aptos"/>
              </a:rPr>
              <a:t>CONFIGURAÇÃO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76272"/>
            <a:ext cx="2478024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F5F8FA"/>
                </a:solidFill>
                <a:latin typeface="Aptos"/>
              </a:rPr>
              <a:t>DeepNPTSEstimator do GluonTS 0.16.2, versão discreta e treinamento global.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74136"/>
            <a:ext cx="2880360" cy="167335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538728"/>
            <a:ext cx="2478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7C85B"/>
                </a:solidFill>
                <a:latin typeface="Aptos"/>
              </a:rPr>
              <a:t>CORREÇÃO TÉCNICA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849624"/>
            <a:ext cx="247802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5F8FA"/>
                </a:solidFill>
                <a:latin typeface="Aptos"/>
              </a:rPr>
              <a:t>Embeddings categóricos registrados em ModuleList; arquitetura e perda RPS preservadas.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67328" y="1700784"/>
            <a:ext cx="4892040" cy="3346704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14215" y="2029968"/>
            <a:ext cx="960120" cy="2487168"/>
          </a:xfrm>
          <a:prstGeom prst="roundRect">
            <a:avLst/>
          </a:prstGeom>
          <a:solidFill>
            <a:srgbClr val="0D2232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05655" y="2157984"/>
            <a:ext cx="219456" cy="219456"/>
          </a:xfrm>
          <a:prstGeom prst="ellipse">
            <a:avLst/>
          </a:prstGeom>
          <a:solidFill>
            <a:srgbClr val="2DD4BF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05655" y="2208276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1724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1" y="2194560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>
                <a:solidFill>
                  <a:srgbClr val="2DD4BF"/>
                </a:solidFill>
                <a:latin typeface="Aptos"/>
              </a:rPr>
              <a:t>CONTEXTO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74336" y="3273552"/>
            <a:ext cx="164592" cy="0"/>
          </a:xfrm>
          <a:prstGeom prst="line">
            <a:avLst/>
          </a:prstGeom>
          <a:ln w="2032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38928" y="2029968"/>
            <a:ext cx="960120" cy="2487168"/>
          </a:xfrm>
          <a:prstGeom prst="roundRect">
            <a:avLst/>
          </a:prstGeom>
          <a:solidFill>
            <a:srgbClr val="0D2232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30368" y="2157984"/>
            <a:ext cx="219456" cy="219456"/>
          </a:xfrm>
          <a:prstGeom prst="ellipse">
            <a:avLst/>
          </a:prstGeom>
          <a:solidFill>
            <a:srgbClr val="FF825C"/>
          </a:solidFill>
          <a:ln w="10160">
            <a:solidFill>
              <a:srgbClr val="FF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0368" y="2208276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1724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95544" y="2194560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>
                <a:solidFill>
                  <a:srgbClr val="FF825C"/>
                </a:solidFill>
                <a:latin typeface="Aptos"/>
              </a:rPr>
              <a:t>SCORE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9048" y="3273552"/>
            <a:ext cx="164592" cy="0"/>
          </a:xfrm>
          <a:prstGeom prst="line">
            <a:avLst/>
          </a:prstGeom>
          <a:ln w="20320">
            <a:solidFill>
              <a:srgbClr val="FF8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63640" y="2029968"/>
            <a:ext cx="960120" cy="2487168"/>
          </a:xfrm>
          <a:prstGeom prst="roundRect">
            <a:avLst/>
          </a:prstGeom>
          <a:solidFill>
            <a:srgbClr val="0D2232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55079" y="2157984"/>
            <a:ext cx="219456" cy="219456"/>
          </a:xfrm>
          <a:prstGeom prst="ellipse">
            <a:avLst/>
          </a:prstGeom>
          <a:solidFill>
            <a:srgbClr val="8B7CF6"/>
          </a:solidFill>
          <a:ln w="10160">
            <a:solidFill>
              <a:srgbClr val="8B7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79" y="2208276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1724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5" y="2194560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>
                <a:solidFill>
                  <a:srgbClr val="8B7CF6"/>
                </a:solidFill>
                <a:latin typeface="Aptos"/>
              </a:rPr>
              <a:t>PESOS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223759" y="3273552"/>
            <a:ext cx="164593" cy="0"/>
          </a:xfrm>
          <a:prstGeom prst="line">
            <a:avLst/>
          </a:prstGeom>
          <a:ln w="20320">
            <a:solidFill>
              <a:srgbClr val="8B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88352" y="2029968"/>
            <a:ext cx="960120" cy="2487168"/>
          </a:xfrm>
          <a:prstGeom prst="roundRect">
            <a:avLst/>
          </a:prstGeom>
          <a:solidFill>
            <a:srgbClr val="0D2232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79792" y="2157984"/>
            <a:ext cx="219456" cy="219456"/>
          </a:xfrm>
          <a:prstGeom prst="ellipse">
            <a:avLst/>
          </a:prstGeom>
          <a:solidFill>
            <a:srgbClr val="F7C85B"/>
          </a:solidFill>
          <a:ln w="10160">
            <a:solidFill>
              <a:srgbClr val="F7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9792" y="2208276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1724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4968" y="2194560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>
                <a:solidFill>
                  <a:srgbClr val="F7C85B"/>
                </a:solidFill>
                <a:latin typeface="Aptos"/>
              </a:rPr>
              <a:t>AMOSTRAS</a:t>
            </a:r>
          </a:p>
        </p:txBody>
      </p:sp>
      <p:sp>
        <p:nvSpPr>
          <p:cNvPr id="33" name="Oval 32"/>
          <p:cNvSpPr/>
          <p:nvPr/>
        </p:nvSpPr>
        <p:spPr>
          <a:xfrm>
            <a:off x="4151376" y="3154680"/>
            <a:ext cx="64008" cy="64008"/>
          </a:xfrm>
          <a:prstGeom prst="ellipse">
            <a:avLst/>
          </a:prstGeom>
          <a:solidFill>
            <a:srgbClr val="2DD4BF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21808" y="2834640"/>
            <a:ext cx="182880" cy="82296"/>
          </a:xfrm>
          <a:prstGeom prst="rect">
            <a:avLst/>
          </a:prstGeom>
          <a:solidFill>
            <a:srgbClr val="FF825C"/>
          </a:solidFill>
          <a:ln w="10160">
            <a:solidFill>
              <a:srgbClr val="FF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270248" y="3291840"/>
            <a:ext cx="64008" cy="64008"/>
          </a:xfrm>
          <a:prstGeom prst="ellipse">
            <a:avLst/>
          </a:prstGeom>
          <a:solidFill>
            <a:srgbClr val="2DD4BF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321808" y="3063240"/>
            <a:ext cx="292608" cy="82296"/>
          </a:xfrm>
          <a:prstGeom prst="rect">
            <a:avLst/>
          </a:prstGeom>
          <a:solidFill>
            <a:srgbClr val="FF825C"/>
          </a:solidFill>
          <a:ln w="10160">
            <a:solidFill>
              <a:srgbClr val="FF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389120" y="3154680"/>
            <a:ext cx="64008" cy="64008"/>
          </a:xfrm>
          <a:prstGeom prst="ellipse">
            <a:avLst/>
          </a:prstGeom>
          <a:solidFill>
            <a:srgbClr val="2DD4BF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321808" y="3291840"/>
            <a:ext cx="402336" cy="82296"/>
          </a:xfrm>
          <a:prstGeom prst="rect">
            <a:avLst/>
          </a:prstGeom>
          <a:solidFill>
            <a:srgbClr val="FF825C"/>
          </a:solidFill>
          <a:ln w="10160">
            <a:solidFill>
              <a:srgbClr val="FF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507992" y="3291840"/>
            <a:ext cx="64008" cy="64008"/>
          </a:xfrm>
          <a:prstGeom prst="ellipse">
            <a:avLst/>
          </a:prstGeom>
          <a:solidFill>
            <a:srgbClr val="2DD4BF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21808" y="3520440"/>
            <a:ext cx="182880" cy="82296"/>
          </a:xfrm>
          <a:prstGeom prst="rect">
            <a:avLst/>
          </a:prstGeom>
          <a:solidFill>
            <a:srgbClr val="FF825C"/>
          </a:solidFill>
          <a:ln w="10160">
            <a:solidFill>
              <a:srgbClr val="FF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626864" y="3154680"/>
            <a:ext cx="64008" cy="64008"/>
          </a:xfrm>
          <a:prstGeom prst="ellipse">
            <a:avLst/>
          </a:prstGeom>
          <a:solidFill>
            <a:srgbClr val="2DD4BF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21808" y="3749039"/>
            <a:ext cx="292608" cy="82296"/>
          </a:xfrm>
          <a:prstGeom prst="rect">
            <a:avLst/>
          </a:prstGeom>
          <a:solidFill>
            <a:srgbClr val="FF825C"/>
          </a:solidFill>
          <a:ln w="10160">
            <a:solidFill>
              <a:srgbClr val="FF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745736" y="3291840"/>
            <a:ext cx="64008" cy="64008"/>
          </a:xfrm>
          <a:prstGeom prst="ellipse">
            <a:avLst/>
          </a:prstGeom>
          <a:solidFill>
            <a:srgbClr val="2DD4BF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321808" y="3977639"/>
            <a:ext cx="402336" cy="82296"/>
          </a:xfrm>
          <a:prstGeom prst="rect">
            <a:avLst/>
          </a:prstGeom>
          <a:solidFill>
            <a:srgbClr val="FF825C"/>
          </a:solidFill>
          <a:ln w="10160">
            <a:solidFill>
              <a:srgbClr val="FF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0800" y="3127248"/>
            <a:ext cx="73152" cy="73152"/>
          </a:xfrm>
          <a:prstGeom prst="ellipse">
            <a:avLst/>
          </a:prstGeom>
          <a:solidFill>
            <a:srgbClr val="8B7CF6"/>
          </a:solidFill>
          <a:ln w="10160">
            <a:solidFill>
              <a:srgbClr val="8B7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56248" y="3108960"/>
            <a:ext cx="109728" cy="109728"/>
          </a:xfrm>
          <a:prstGeom prst="ellipse">
            <a:avLst/>
          </a:prstGeom>
          <a:solidFill>
            <a:srgbClr val="8B7CF6"/>
          </a:solidFill>
          <a:ln w="10160">
            <a:solidFill>
              <a:srgbClr val="8B7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711696" y="3090672"/>
            <a:ext cx="146304" cy="146304"/>
          </a:xfrm>
          <a:prstGeom prst="ellipse">
            <a:avLst/>
          </a:prstGeom>
          <a:solidFill>
            <a:srgbClr val="8B7CF6"/>
          </a:solidFill>
          <a:ln w="10160">
            <a:solidFill>
              <a:srgbClr val="8B7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867144" y="3063240"/>
            <a:ext cx="201168" cy="201168"/>
          </a:xfrm>
          <a:prstGeom prst="ellipse">
            <a:avLst/>
          </a:prstGeom>
          <a:solidFill>
            <a:srgbClr val="8B7CF6"/>
          </a:solidFill>
          <a:ln w="10160">
            <a:solidFill>
              <a:srgbClr val="8B7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022592" y="3035808"/>
            <a:ext cx="256032" cy="256032"/>
          </a:xfrm>
          <a:prstGeom prst="ellipse">
            <a:avLst/>
          </a:prstGeom>
          <a:solidFill>
            <a:srgbClr val="8B7CF6"/>
          </a:solidFill>
          <a:ln w="10160">
            <a:solidFill>
              <a:srgbClr val="8B7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589520" y="3886200"/>
            <a:ext cx="109728" cy="109728"/>
          </a:xfrm>
          <a:prstGeom prst="ellipse">
            <a:avLst/>
          </a:prstGeom>
          <a:solidFill>
            <a:srgbClr val="F7C85B"/>
          </a:solidFill>
          <a:ln w="10160">
            <a:solidFill>
              <a:srgbClr val="F7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5552" y="3319272"/>
            <a:ext cx="164592" cy="164592"/>
          </a:xfrm>
          <a:prstGeom prst="ellipse">
            <a:avLst/>
          </a:prstGeom>
          <a:solidFill>
            <a:srgbClr val="F7C85B"/>
          </a:solidFill>
          <a:ln w="10160">
            <a:solidFill>
              <a:srgbClr val="F7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101583" y="2816352"/>
            <a:ext cx="228600" cy="228600"/>
          </a:xfrm>
          <a:prstGeom prst="ellipse">
            <a:avLst/>
          </a:prstGeom>
          <a:solidFill>
            <a:srgbClr val="F7C85B"/>
          </a:solidFill>
          <a:ln w="10160">
            <a:solidFill>
              <a:srgbClr val="F7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90104" y="2697480"/>
            <a:ext cx="91440" cy="91440"/>
          </a:xfrm>
          <a:prstGeom prst="ellipse">
            <a:avLst/>
          </a:prstGeom>
          <a:solidFill>
            <a:srgbClr val="F7C85B"/>
          </a:solidFill>
          <a:ln w="10160">
            <a:solidFill>
              <a:srgbClr val="F7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887968" y="1700784"/>
            <a:ext cx="2660904" cy="149047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89136" y="1865376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7C85B"/>
                </a:solidFill>
                <a:latin typeface="Aptos"/>
              </a:rPr>
              <a:t>QUALIDADE PROBABILÍSTICA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89136" y="2176272"/>
            <a:ext cx="2258568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F5F8FA"/>
                </a:solidFill>
                <a:latin typeface="Aptos"/>
              </a:rPr>
              <a:t>CRPS 15.90 W/m²
Cobertura 90%: 90.83%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887968" y="3374136"/>
            <a:ext cx="2660904" cy="167335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89136" y="3538728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7C85B"/>
                </a:solidFill>
                <a:latin typeface="Aptos"/>
              </a:rPr>
              <a:t>LEITURA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89136" y="3849624"/>
            <a:ext cx="225856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10" b="0">
                <a:solidFill>
                  <a:srgbClr val="F5F8FA"/>
                </a:solidFill>
                <a:latin typeface="Aptos"/>
              </a:rPr>
              <a:t>Cobertura próxima do nominal, mas intervalos muito largos (145.56 W/m²).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5824728"/>
            <a:ext cx="10908792" cy="530352"/>
          </a:xfrm>
          <a:prstGeom prst="roundRect">
            <a:avLst/>
          </a:prstGeom>
          <a:solidFill>
            <a:srgbClr val="0D2232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0080" y="5824728"/>
            <a:ext cx="73152" cy="530352"/>
          </a:xfrm>
          <a:prstGeom prst="rect">
            <a:avLst/>
          </a:prstGeom>
          <a:solidFill>
            <a:srgbClr val="F7C85B"/>
          </a:solidFill>
          <a:ln w="10160">
            <a:solidFill>
              <a:srgbClr val="F7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0392" y="5934456"/>
            <a:ext cx="5212080" cy="256032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r>
              <a:rPr sz="1200" b="1">
                <a:solidFill>
                  <a:srgbClr val="F5F8FA"/>
                </a:solidFill>
                <a:latin typeface="Aptos"/>
              </a:rPr>
              <a:t>MAE 17.70 W/m²</a:t>
            </a:r>
            <a:r>
              <a:rPr sz="1200" b="0">
                <a:solidFill>
                  <a:srgbClr val="A9BAC5"/>
                </a:solidFill>
                <a:latin typeface="Aptos"/>
              </a:rPr>
              <a:t>   ·   RMSE 22.81 W/m²</a:t>
            </a:r>
            <a:r>
              <a:rPr sz="1200" b="1">
                <a:solidFill>
                  <a:srgbClr val="F7C85B"/>
                </a:solidFill>
                <a:latin typeface="Aptos"/>
              </a:rPr>
              <a:t>   ·   9º no ranking geral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35040" y="5916168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A9BAC5"/>
                </a:solidFill>
                <a:latin typeface="Aptos"/>
              </a:rPr>
              <a:t>Alta variabilidade entre sementes (DP = 9,22 W/m²)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6547104"/>
            <a:ext cx="6217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58092"/>
                </a:solidFill>
                <a:latin typeface="Aptos"/>
              </a:rPr>
              <a:t>TCC · PREVISÃO MENSAL DE GHI · 10 LOCALIDADES · TESTE EM 2024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01200" y="6547104"/>
            <a:ext cx="19476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58092"/>
                </a:solidFill>
                <a:latin typeface="Aptos"/>
              </a:rPr>
              <a:t>DEEPNPTS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REFERÊNCIAS SIMPLES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76072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Três baselines: o teste mínimo que todo modelo precisa superar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9BAC5"/>
                </a:solidFill>
                <a:latin typeface="Aptos"/>
              </a:rPr>
              <a:t>Elas medem quanto valor real a complexidade acrescenta ao padrão sazonal.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6517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9BAC5"/>
                </a:solidFill>
                <a:latin typeface="Aptos"/>
              </a:rP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435608"/>
            <a:ext cx="10908792" cy="0"/>
          </a:xfrm>
          <a:prstGeom prst="line">
            <a:avLst/>
          </a:prstGeom>
          <a:ln w="1016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828800"/>
            <a:ext cx="3419856" cy="3529584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66543"/>
            <a:ext cx="411480" cy="411480"/>
          </a:xfrm>
          <a:prstGeom prst="ellipse">
            <a:avLst/>
          </a:prstGeom>
          <a:solidFill>
            <a:srgbClr val="FF825C"/>
          </a:solidFill>
          <a:ln w="10160">
            <a:solidFill>
              <a:srgbClr val="FF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5798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71724"/>
                </a:solidFill>
                <a:latin typeface="Aptos"/>
              </a:rPr>
              <a:t>t−1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33472"/>
            <a:ext cx="296265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Persistência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36392"/>
            <a:ext cx="2962656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0">
                <a:solidFill>
                  <a:srgbClr val="A9BAC5"/>
                </a:solidFill>
                <a:latin typeface="Aptos"/>
              </a:rPr>
              <a:t>Repete a GHI observada no mês imediatamente anterior.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" y="4315968"/>
            <a:ext cx="2962656" cy="0"/>
          </a:xfrm>
          <a:prstGeom prst="line">
            <a:avLst/>
          </a:prstGeom>
          <a:ln w="1016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4526280"/>
            <a:ext cx="1463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FF825C"/>
                </a:solidFill>
                <a:latin typeface="Aptos"/>
              </a:rPr>
              <a:t>35.09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8348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9BAC5"/>
                </a:solidFill>
                <a:latin typeface="Aptos"/>
              </a:rPr>
              <a:t>MAE (W/m²)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469087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5F8FA"/>
                </a:solidFill>
                <a:latin typeface="Aptos"/>
              </a:rPr>
              <a:t>10º geral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19856" cy="3529584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17720" y="2066543"/>
            <a:ext cx="411480" cy="411480"/>
          </a:xfrm>
          <a:prstGeom prst="ellipse">
            <a:avLst/>
          </a:prstGeom>
          <a:solidFill>
            <a:srgbClr val="55A7FF"/>
          </a:solidFill>
          <a:ln w="1016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15798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71724"/>
                </a:solidFill>
                <a:latin typeface="Aptos"/>
              </a:rPr>
              <a:t>t−12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633472"/>
            <a:ext cx="296265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Sazonal ingênuo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136392"/>
            <a:ext cx="2962656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0">
                <a:solidFill>
                  <a:srgbClr val="A9BAC5"/>
                </a:solidFill>
                <a:latin typeface="Aptos"/>
              </a:rPr>
              <a:t>Usa a observação do mesmo mês do ano anterior.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17720" y="4315968"/>
            <a:ext cx="2962655" cy="0"/>
          </a:xfrm>
          <a:prstGeom prst="line">
            <a:avLst/>
          </a:prstGeom>
          <a:ln w="1016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17720" y="4526280"/>
            <a:ext cx="1463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55A7FF"/>
                </a:solidFill>
                <a:latin typeface="Aptos"/>
              </a:rPr>
              <a:t>16.94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98348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9BAC5"/>
                </a:solidFill>
                <a:latin typeface="Aptos"/>
              </a:rPr>
              <a:t>MAE (W/m²)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469087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5F8FA"/>
                </a:solidFill>
                <a:latin typeface="Aptos"/>
              </a:rPr>
              <a:t>8º geral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828800"/>
            <a:ext cx="3419856" cy="3529584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66760" y="2066543"/>
            <a:ext cx="411480" cy="411480"/>
          </a:xfrm>
          <a:prstGeom prst="ellipse">
            <a:avLst/>
          </a:prstGeom>
          <a:solidFill>
            <a:srgbClr val="C5F55A"/>
          </a:solidFill>
          <a:ln w="10160">
            <a:solidFill>
              <a:srgbClr val="C5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215798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71724"/>
                </a:solidFill>
                <a:latin typeface="Aptos"/>
              </a:rPr>
              <a:t>μm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633472"/>
            <a:ext cx="296265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Climatologia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136392"/>
            <a:ext cx="2962656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0">
                <a:solidFill>
                  <a:srgbClr val="A9BAC5"/>
                </a:solidFill>
                <a:latin typeface="Aptos"/>
              </a:rPr>
              <a:t>Média histórica do mês e da localidade, calculada apenas no treino.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66760" y="4315968"/>
            <a:ext cx="2962656" cy="0"/>
          </a:xfrm>
          <a:prstGeom prst="line">
            <a:avLst/>
          </a:prstGeom>
          <a:ln w="1016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366760" y="4526280"/>
            <a:ext cx="1463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C5F55A"/>
                </a:solidFill>
                <a:latin typeface="Aptos"/>
              </a:rPr>
              <a:t>12.07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98348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9BAC5"/>
                </a:solidFill>
                <a:latin typeface="Aptos"/>
              </a:rPr>
              <a:t>MAE (W/m²)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40112" y="469087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5F8FA"/>
                </a:solidFill>
                <a:latin typeface="Aptos"/>
              </a:rPr>
              <a:t>1º geral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614416"/>
            <a:ext cx="10917936" cy="621792"/>
          </a:xfrm>
          <a:prstGeom prst="roundRect">
            <a:avLst/>
          </a:prstGeom>
          <a:solidFill>
            <a:srgbClr val="0D2232"/>
          </a:solidFill>
          <a:ln w="10160">
            <a:solidFill>
              <a:srgbClr val="C5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" y="5797296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20" b="1">
                <a:solidFill>
                  <a:srgbClr val="F5F8FA"/>
                </a:solidFill>
                <a:latin typeface="Aptos"/>
              </a:rPr>
              <a:t>Resultado-chave: a climatologia foi o melhor método geral — a sazonalidade anual dominou este conjunto mensal.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547104"/>
            <a:ext cx="6217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58092"/>
                </a:solidFill>
                <a:latin typeface="Aptos"/>
              </a:rPr>
              <a:t>TCC · PREVISÃO MENSAL DE GHI · 10 LOCALIDADES · TESTE EM 2024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6547104"/>
            <a:ext cx="19476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58092"/>
                </a:solidFill>
                <a:latin typeface="Aptos"/>
              </a:rPr>
              <a:t>BASELINES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RESULTADOS PONTUAIS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76072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Ranking por macro-MAE: simples e recorrentes lideram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9BAC5"/>
                </a:solidFill>
                <a:latin typeface="Aptos"/>
              </a:rPr>
              <a:t>Média não ponderada do MAE nas dez localidades; menor é melhor.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6517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9BAC5"/>
                </a:solidFill>
                <a:latin typeface="Aptos"/>
              </a:rP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435608"/>
            <a:ext cx="10908792" cy="0"/>
          </a:xfrm>
          <a:prstGeom prst="line">
            <a:avLst/>
          </a:prstGeom>
          <a:ln w="1016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709928"/>
            <a:ext cx="7498079" cy="4553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e_medio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56231"/>
            <a:ext cx="7132320" cy="448718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94192" y="1709928"/>
            <a:ext cx="3154680" cy="126187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874520"/>
            <a:ext cx="27523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5F55A"/>
                </a:solidFill>
                <a:latin typeface="Aptos"/>
              </a:rPr>
              <a:t>1º LUGAR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185416"/>
            <a:ext cx="2752344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5F8FA"/>
                </a:solidFill>
                <a:latin typeface="Aptos"/>
              </a:rPr>
              <a:t>Climatologia
12,07 W/m²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94192" y="3163824"/>
            <a:ext cx="3154680" cy="1261872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3328416"/>
            <a:ext cx="27523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DD4BF"/>
                </a:solidFill>
                <a:latin typeface="Aptos"/>
              </a:rPr>
              <a:t>MELHOR MODELO APRENDIDO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639312"/>
            <a:ext cx="2752344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5F8FA"/>
                </a:solidFill>
                <a:latin typeface="Aptos"/>
              </a:rPr>
              <a:t>LSTM
12,22 W/m²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94192" y="4617720"/>
            <a:ext cx="3154680" cy="1645920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4782312"/>
            <a:ext cx="27523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8B7CF6"/>
                </a:solidFill>
                <a:latin typeface="Aptos"/>
              </a:rPr>
              <a:t>LEITURA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5093208"/>
            <a:ext cx="2752344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40" b="0">
                <a:solidFill>
                  <a:srgbClr val="F5F8FA"/>
                </a:solidFill>
                <a:latin typeface="Aptos"/>
              </a:rPr>
              <a:t>LSTM ficou apenas 0,15 W/m² atrás da climatologia. RNN e DilatedRNN completaram o grupo líder.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47104"/>
            <a:ext cx="6217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58092"/>
                </a:solidFill>
                <a:latin typeface="Aptos"/>
              </a:rPr>
              <a:t>TCC · PREVISÃO MENSAL DE GHI · 10 LOCALIDADES · TESTE EM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47104"/>
            <a:ext cx="19476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58092"/>
                </a:solidFill>
                <a:latin typeface="Aptos"/>
              </a:rPr>
              <a:t>RANKING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46AA5"/>
                </a:solidFill>
                <a:latin typeface="Aptos"/>
              </a:rPr>
              <a:t>RESULTADOS E 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76072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Precisão, cobertura e largura contam histórias diferentes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9BAC5"/>
                </a:solidFill>
                <a:latin typeface="Aptos"/>
              </a:rPr>
              <a:t>A avaliação probabilística exige olhar calibração e nitidez em conjunto.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6517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9BAC5"/>
                </a:solidFill>
                <a:latin typeface="Aptos"/>
              </a:rP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435608"/>
            <a:ext cx="10908792" cy="0"/>
          </a:xfrm>
          <a:prstGeom prst="line">
            <a:avLst/>
          </a:prstGeom>
          <a:ln w="10160">
            <a:solidFill>
              <a:srgbClr val="25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178308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46AA5"/>
                </a:solidFill>
                <a:latin typeface="Aptos"/>
              </a:rPr>
              <a:t>RESULTADOS PROBABILÍSTICOS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084831"/>
            <a:ext cx="6537960" cy="758952"/>
          </a:xfrm>
          <a:prstGeom prst="roundRect">
            <a:avLst/>
          </a:prstGeom>
          <a:solidFill>
            <a:srgbClr val="0D2232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084831"/>
            <a:ext cx="73152" cy="758952"/>
          </a:xfrm>
          <a:prstGeom prst="rect">
            <a:avLst/>
          </a:prstGeom>
          <a:solidFill>
            <a:srgbClr val="F46AA5"/>
          </a:solidFill>
          <a:ln w="10160">
            <a:solidFill>
              <a:srgbClr val="F46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313432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46AA5"/>
                </a:solidFill>
                <a:latin typeface="Aptos"/>
              </a:rPr>
              <a:t>DeepAR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19456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8FA"/>
                </a:solidFill>
                <a:latin typeface="Aptos"/>
              </a:rPr>
              <a:t>10.83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523744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A9BAC5"/>
                </a:solidFill>
                <a:latin typeface="Aptos"/>
              </a:rPr>
              <a:t>CRPS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19456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8FA"/>
                </a:solidFill>
                <a:latin typeface="Aptos"/>
              </a:rPr>
              <a:t>61.67%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523744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A9BAC5"/>
                </a:solidFill>
                <a:latin typeface="Aptos"/>
              </a:rPr>
              <a:t>cobertura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219456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8FA"/>
                </a:solidFill>
                <a:latin typeface="Aptos"/>
              </a:rPr>
              <a:t>35.50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2523744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A9BAC5"/>
                </a:solidFill>
                <a:latin typeface="Aptos"/>
              </a:rPr>
              <a:t>largura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3044952"/>
            <a:ext cx="6537960" cy="758952"/>
          </a:xfrm>
          <a:prstGeom prst="roundRect">
            <a:avLst/>
          </a:prstGeom>
          <a:solidFill>
            <a:srgbClr val="0D2232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" y="3044952"/>
            <a:ext cx="73152" cy="758952"/>
          </a:xfrm>
          <a:prstGeom prst="rect">
            <a:avLst/>
          </a:prstGeom>
          <a:solidFill>
            <a:srgbClr val="F7C85B"/>
          </a:solidFill>
          <a:ln w="10160">
            <a:solidFill>
              <a:srgbClr val="F7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3273552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C85B"/>
                </a:solidFill>
                <a:latin typeface="Aptos"/>
              </a:rPr>
              <a:t>DeepNPTS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15468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8FA"/>
                </a:solidFill>
                <a:latin typeface="Aptos"/>
              </a:rPr>
              <a:t>15.90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483864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A9BAC5"/>
                </a:solidFill>
                <a:latin typeface="Aptos"/>
              </a:rPr>
              <a:t>CRPS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315468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8FA"/>
                </a:solidFill>
                <a:latin typeface="Aptos"/>
              </a:rPr>
              <a:t>90.83%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3483864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A9BAC5"/>
                </a:solidFill>
                <a:latin typeface="Aptos"/>
              </a:rPr>
              <a:t>cobertura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7568" y="315468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8FA"/>
                </a:solidFill>
                <a:latin typeface="Aptos"/>
              </a:rPr>
              <a:t>145.56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7568" y="3483864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A9BAC5"/>
                </a:solidFill>
                <a:latin typeface="Aptos"/>
              </a:rPr>
              <a:t>largura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3941063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A9BAC5"/>
                </a:solidFill>
                <a:latin typeface="Aptos"/>
              </a:rPr>
              <a:t>CRPS e largura em W/m² · intervalo nominal de 90%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71816" y="1709928"/>
            <a:ext cx="3877056" cy="2752344"/>
          </a:xfrm>
          <a:prstGeom prst="roundRect">
            <a:avLst/>
          </a:prstGeom>
          <a:solidFill>
            <a:srgbClr val="102B3D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18704" y="1947672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VENCEDORES POR LOCALIDADE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18704" y="242316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5F8FA"/>
                </a:solidFill>
                <a:latin typeface="Aptos"/>
              </a:rPr>
              <a:t>LSTM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79992" y="2432303"/>
            <a:ext cx="1572768" cy="146304"/>
          </a:xfrm>
          <a:prstGeom prst="roundRect">
            <a:avLst/>
          </a:prstGeom>
          <a:solidFill>
            <a:srgbClr val="C5F55A"/>
          </a:solidFill>
          <a:ln w="10160">
            <a:solidFill>
              <a:srgbClr val="C5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99648" y="2423160"/>
            <a:ext cx="228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C5F55A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8704" y="278892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5F8FA"/>
                </a:solidFill>
                <a:latin typeface="Aptos"/>
              </a:rPr>
              <a:t>Climatologia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79992" y="2798063"/>
            <a:ext cx="1179576" cy="146304"/>
          </a:xfrm>
          <a:prstGeom prst="roundRect">
            <a:avLst/>
          </a:prstGeom>
          <a:solidFill>
            <a:srgbClr val="2DD4BF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99648" y="2788920"/>
            <a:ext cx="228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2DD4BF"/>
                </a:solidFill>
                <a:latin typeface="Apto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8704" y="315468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5F8FA"/>
                </a:solidFill>
                <a:latin typeface="Aptos"/>
              </a:rPr>
              <a:t>RNN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79992" y="3163824"/>
            <a:ext cx="393192" cy="146304"/>
          </a:xfrm>
          <a:prstGeom prst="roundRect">
            <a:avLst/>
          </a:prstGeom>
          <a:solidFill>
            <a:srgbClr val="55A7FF"/>
          </a:solidFill>
          <a:ln w="1016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99648" y="3154680"/>
            <a:ext cx="228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55A7FF"/>
                </a:solidFill>
                <a:latin typeface="Aptos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18704" y="352044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5F8FA"/>
                </a:solidFill>
                <a:latin typeface="Aptos"/>
              </a:rPr>
              <a:t>DeepAR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79992" y="3529584"/>
            <a:ext cx="393192" cy="146304"/>
          </a:xfrm>
          <a:prstGeom prst="roundRect">
            <a:avLst/>
          </a:prstGeom>
          <a:solidFill>
            <a:srgbClr val="F46AA5"/>
          </a:solidFill>
          <a:ln w="10160">
            <a:solidFill>
              <a:srgbClr val="F46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99648" y="3520440"/>
            <a:ext cx="228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F46AA5"/>
                </a:solidFill>
                <a:latin typeface="Aptos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18704" y="388620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5F8FA"/>
                </a:solidFill>
                <a:latin typeface="Aptos"/>
              </a:rPr>
              <a:t>Sazonal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79992" y="3895344"/>
            <a:ext cx="393192" cy="146304"/>
          </a:xfrm>
          <a:prstGeom prst="roundRect">
            <a:avLst/>
          </a:prstGeom>
          <a:solidFill>
            <a:srgbClr val="FF825C"/>
          </a:solidFill>
          <a:ln w="10160">
            <a:solidFill>
              <a:srgbClr val="FF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99648" y="3886200"/>
            <a:ext cx="228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FF825C"/>
                </a:solidFill>
                <a:latin typeface="Aptos"/>
              </a:rPr>
              <a:t>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4745736"/>
            <a:ext cx="10908792" cy="1499616"/>
          </a:xfrm>
          <a:prstGeom prst="roundRect">
            <a:avLst/>
          </a:prstGeom>
          <a:solidFill>
            <a:srgbClr val="0D2232"/>
          </a:solidFill>
          <a:ln w="10160">
            <a:solidFill>
              <a:srgbClr val="25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96112" y="5038344"/>
            <a:ext cx="292608" cy="292608"/>
          </a:xfrm>
          <a:prstGeom prst="ellipse">
            <a:avLst/>
          </a:prstGeom>
          <a:solidFill>
            <a:srgbClr val="C5F55A"/>
          </a:solidFill>
          <a:ln w="10160">
            <a:solidFill>
              <a:srgbClr val="C5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" y="5111496"/>
            <a:ext cx="2926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071724"/>
                </a:solidFill>
                <a:latin typeface="Aptos"/>
              </a:rPr>
              <a:t>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35024" y="5001768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F8FA"/>
                </a:solidFill>
                <a:latin typeface="Aptos"/>
              </a:rPr>
              <a:t>Sazonalidade forte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35024" y="5358384"/>
            <a:ext cx="2697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9BAC5"/>
                </a:solidFill>
                <a:latin typeface="Aptos"/>
              </a:rPr>
              <a:t>A climatologia venceu o macro-MAE.</a:t>
            </a:r>
          </a:p>
        </p:txBody>
      </p:sp>
      <p:sp>
        <p:nvSpPr>
          <p:cNvPr id="49" name="Oval 48"/>
          <p:cNvSpPr/>
          <p:nvPr/>
        </p:nvSpPr>
        <p:spPr>
          <a:xfrm>
            <a:off x="4443983" y="5038344"/>
            <a:ext cx="292608" cy="292608"/>
          </a:xfrm>
          <a:prstGeom prst="ellipse">
            <a:avLst/>
          </a:prstGeom>
          <a:solidFill>
            <a:srgbClr val="2DD4BF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43983" y="5111496"/>
            <a:ext cx="2926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071724"/>
                </a:solidFill>
                <a:latin typeface="Aptos"/>
              </a:rPr>
              <a:t>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82896" y="5001768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F8FA"/>
                </a:solidFill>
                <a:latin typeface="Aptos"/>
              </a:rPr>
              <a:t>Recorrência competitiva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82896" y="5358384"/>
            <a:ext cx="2697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9BAC5"/>
                </a:solidFill>
                <a:latin typeface="Aptos"/>
              </a:rPr>
              <a:t>LSTM venceu 4 das 10 localidades.</a:t>
            </a:r>
          </a:p>
        </p:txBody>
      </p:sp>
      <p:sp>
        <p:nvSpPr>
          <p:cNvPr id="53" name="Oval 52"/>
          <p:cNvSpPr/>
          <p:nvPr/>
        </p:nvSpPr>
        <p:spPr>
          <a:xfrm>
            <a:off x="7991856" y="5038344"/>
            <a:ext cx="292608" cy="292608"/>
          </a:xfrm>
          <a:prstGeom prst="ellipse">
            <a:avLst/>
          </a:prstGeom>
          <a:solidFill>
            <a:srgbClr val="F46AA5"/>
          </a:solidFill>
          <a:ln w="10160">
            <a:solidFill>
              <a:srgbClr val="F46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91856" y="5111496"/>
            <a:ext cx="2926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071724"/>
                </a:solidFill>
                <a:latin typeface="Aptos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30768" y="5001768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F8FA"/>
                </a:solidFill>
                <a:latin typeface="Aptos"/>
              </a:rPr>
              <a:t>Incerteza tem trade-off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30768" y="5358384"/>
            <a:ext cx="2697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9BAC5"/>
                </a:solidFill>
                <a:latin typeface="Aptos"/>
              </a:rPr>
              <a:t>DeepAR foi mais nítido; DeepNPTS cobriu mais.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547104"/>
            <a:ext cx="6217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58092"/>
                </a:solidFill>
                <a:latin typeface="Aptos"/>
              </a:rPr>
              <a:t>TCC · PREVISÃO MENSAL DE GHI · 10 LOCALIDADES · TESTE EM 2024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0" y="6547104"/>
            <a:ext cx="19476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58092"/>
                </a:solidFill>
                <a:latin typeface="Aptos"/>
              </a:rPr>
              <a:t>CONCLUSÕES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Modelos, baselines e resultados — previsão mensal de GHI</dc:title>
  <dc:subject>Síntese do experimento canônico do TCC</dc:subject>
  <dc:creator>Projeto TCC</dc:creator>
  <cp:keywords>GHI, machine learning, baselines, DeepNPTS, DeepAR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